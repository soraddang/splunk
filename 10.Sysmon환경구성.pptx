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94" r:id="rId2"/>
    <p:sldId id="519" r:id="rId3"/>
    <p:sldId id="518" r:id="rId4"/>
    <p:sldId id="487" r:id="rId5"/>
    <p:sldId id="497" r:id="rId6"/>
    <p:sldId id="407" r:id="rId7"/>
    <p:sldId id="408" r:id="rId8"/>
  </p:sldIdLst>
  <p:sldSz cx="9144000" cy="6858000" type="screen4x3"/>
  <p:notesSz cx="7102475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80316" autoAdjust="0"/>
  </p:normalViewPr>
  <p:slideViewPr>
    <p:cSldViewPr snapToGrid="0">
      <p:cViewPr varScale="1">
        <p:scale>
          <a:sx n="68" d="100"/>
          <a:sy n="68" d="100"/>
        </p:scale>
        <p:origin x="1262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7739" cy="513508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39" cy="513508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7F62BA05-A9BB-4697-A3BD-35719849218B}" type="datetimeFigureOut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4768" tIns="47384" rIns="94768" bIns="47384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7739" cy="513507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093" y="9721107"/>
            <a:ext cx="3077739" cy="513507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E83010E8-AC17-4DAC-8AD3-A9A67DF46E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972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3010E8-AC17-4DAC-8AD3-A9A67DF46E4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360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3010E8-AC17-4DAC-8AD3-A9A67DF46E4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089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CA212-76F5-4EA2-BA1E-8FB7798D65C1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9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F700-74B4-40CF-9B90-35FB4E3F3754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049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496C-9DF5-49A8-8EC3-3472BD08DDE2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19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F3E63-6E35-412B-A817-728405FAC4A9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005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9B36-A6A1-40AF-A805-7268AADD32C3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095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62E08-F7B0-4821-BB5E-112B9330E9B5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02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3D0C-464D-44EA-9A63-8A6B8679ADD1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103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061B-FFBA-47D9-9E24-D26ABB52D8BE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46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7B542-4759-4083-9FF3-CD6B453DB323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614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CE8D5-C27E-44F0-96BD-5578274661D5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026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9BFD3-959B-4EE4-8D7E-DBC0C38308BF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27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B2795-8644-4CDA-8334-D663647BBB28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565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71969" y="1045465"/>
            <a:ext cx="7772400" cy="1178446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Sysmon</a:t>
            </a:r>
            <a:r>
              <a:rPr lang="en-US" altLang="ko-KR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</a:t>
            </a:r>
            <a:endParaRPr lang="ko-KR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1094458" y="2309185"/>
            <a:ext cx="63274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Win10] 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Sysmon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Installation </a:t>
            </a:r>
          </a:p>
        </p:txBody>
      </p:sp>
    </p:spTree>
    <p:extLst>
      <p:ext uri="{BB962C8B-B14F-4D97-AF65-F5344CB8AC3E}">
        <p14:creationId xmlns:p14="http://schemas.microsoft.com/office/powerpoint/2010/main" val="3949361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62163"/>
          </a:xfrm>
        </p:spPr>
        <p:txBody>
          <a:bodyPr>
            <a:normAutofit/>
          </a:bodyPr>
          <a:lstStyle/>
          <a:p>
            <a:r>
              <a:rPr lang="en-US" altLang="ko-KR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Sysmon</a:t>
            </a:r>
            <a:endParaRPr lang="ko-KR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4472" y="1407937"/>
            <a:ext cx="8515350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altLang="ko-KR" sz="19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Microsoft</a:t>
            </a:r>
            <a:r>
              <a:rPr lang="ko-KR" altLang="en-US" sz="19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의 </a:t>
            </a:r>
            <a:r>
              <a:rPr lang="en-US" altLang="ko-KR" sz="19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Sysinternal</a:t>
            </a:r>
            <a:r>
              <a:rPr lang="en-US" altLang="ko-KR" sz="19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suite</a:t>
            </a:r>
            <a:r>
              <a:rPr lang="ko-KR" altLang="en-US" sz="19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에 포함된 시스템 모니터링 툴</a:t>
            </a:r>
          </a:p>
          <a:p>
            <a:pPr>
              <a:lnSpc>
                <a:spcPct val="200000"/>
              </a:lnSpc>
            </a:pPr>
            <a:r>
              <a:rPr lang="ko-KR" altLang="en-US" sz="19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기본 윈도우 </a:t>
            </a:r>
            <a:r>
              <a:rPr lang="ko-KR" altLang="en-US" sz="19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이벤트 로그로는 </a:t>
            </a:r>
            <a:r>
              <a:rPr lang="ko-KR" altLang="en-US" sz="19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한계가 있는 프로세스 생성</a:t>
            </a:r>
            <a:r>
              <a:rPr lang="en-US" altLang="ko-KR" sz="19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9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네트워크 </a:t>
            </a:r>
            <a:r>
              <a:rPr lang="ko-KR" altLang="en-US" sz="19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연결</a:t>
            </a:r>
            <a:r>
              <a:rPr lang="en-US" altLang="ko-KR" sz="19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, </a:t>
            </a:r>
            <a:endParaRPr lang="en-US" altLang="ko-KR" sz="19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9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</a:t>
            </a:r>
            <a:r>
              <a:rPr lang="ko-KR" altLang="en-US" sz="19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파일 생성 </a:t>
            </a:r>
            <a:r>
              <a:rPr lang="ko-KR" altLang="en-US" sz="19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시간 변경 등의 정보를 추출한 후 윈도우 이벤트 저장소에 저장</a:t>
            </a:r>
          </a:p>
          <a:p>
            <a:pPr>
              <a:lnSpc>
                <a:spcPct val="200000"/>
              </a:lnSpc>
            </a:pPr>
            <a:endParaRPr lang="ko-KR" altLang="en-US" sz="19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ko-KR" altLang="en-US" sz="19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* 이벤트 기반 정보가 아닌 </a:t>
            </a:r>
            <a:r>
              <a:rPr lang="en-US" altLang="ko-KR" sz="19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‘</a:t>
            </a:r>
            <a:r>
              <a:rPr lang="ko-KR" altLang="en-US" sz="19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행동 기반 정보</a:t>
            </a:r>
            <a:r>
              <a:rPr lang="en-US" altLang="ko-KR" sz="19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’</a:t>
            </a:r>
            <a:r>
              <a:rPr lang="ko-KR" altLang="en-US" sz="19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를 </a:t>
            </a:r>
            <a:r>
              <a:rPr lang="ko-KR" altLang="en-US" sz="1900" b="1" u="sng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수집에서 </a:t>
            </a:r>
            <a:r>
              <a:rPr lang="ko-KR" altLang="en-US" sz="19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이</a:t>
            </a:r>
            <a:r>
              <a:rPr lang="ko-KR" altLang="en-US" sz="1900" b="1" u="sng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벤</a:t>
            </a:r>
            <a:r>
              <a:rPr lang="ko-KR" altLang="en-US" sz="19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트 </a:t>
            </a:r>
            <a:r>
              <a:rPr lang="ko-KR" altLang="en-US" sz="1900" b="1" u="sng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저장소에 저장 </a:t>
            </a:r>
          </a:p>
          <a:p>
            <a:pPr>
              <a:lnSpc>
                <a:spcPct val="200000"/>
              </a:lnSpc>
            </a:pPr>
            <a:endParaRPr lang="ko-KR" altLang="en-US" sz="19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641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31496"/>
          </a:xfrm>
        </p:spPr>
        <p:txBody>
          <a:bodyPr>
            <a:normAutofit/>
          </a:bodyPr>
          <a:lstStyle/>
          <a:p>
            <a:r>
              <a:rPr lang="en-US" altLang="ko-KR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Sysmon</a:t>
            </a:r>
            <a:r>
              <a:rPr lang="en-US" altLang="ko-K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3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기능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(p.193)</a:t>
            </a:r>
            <a:r>
              <a:rPr lang="en-US" altLang="ko-K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41803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ko-KR" altLang="en-US" sz="19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실행 프로세스와 부모 프로세스의 전체 명령 줄을 로그로 저장</a:t>
            </a:r>
            <a:endParaRPr lang="en-US" altLang="ko-KR" sz="19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ko-KR" sz="19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MD5, SHA1, SHA256 </a:t>
            </a:r>
            <a:r>
              <a:rPr lang="ko-KR" altLang="en-US" sz="19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알고리즘으로 실행 프로그램의 해시 값을 기록</a:t>
            </a:r>
            <a:endParaRPr lang="en-US" altLang="ko-KR" sz="19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ko-KR" altLang="en-US" sz="19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여러 종류의 해시 값을 동시에 기록</a:t>
            </a:r>
            <a:endParaRPr lang="en-US" altLang="ko-KR" sz="19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ko-KR" altLang="en-US" sz="19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네트워크 연결에서 </a:t>
            </a:r>
            <a:r>
              <a:rPr lang="en-US" altLang="ko-KR" sz="19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ko-KR" altLang="en-US" sz="19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주소</a:t>
            </a:r>
            <a:r>
              <a:rPr lang="en-US" altLang="ko-KR" sz="19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9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포트번호</a:t>
            </a:r>
            <a:r>
              <a:rPr lang="en-US" altLang="ko-KR" sz="19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9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호스트명</a:t>
            </a:r>
            <a:r>
              <a:rPr lang="en-US" altLang="ko-KR" sz="19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9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포트명</a:t>
            </a:r>
            <a:r>
              <a:rPr lang="ko-KR" altLang="en-US" sz="19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등을 기록</a:t>
            </a:r>
            <a:endParaRPr lang="en-US" altLang="ko-KR" sz="19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ko-KR" altLang="en-US" sz="19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레지스트리에서</a:t>
            </a:r>
            <a:r>
              <a:rPr lang="ko-KR" altLang="en-US" sz="19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환경 설정이 변경된 경우 자동으로 다시 읽어 들임 </a:t>
            </a:r>
            <a:endParaRPr lang="ko-KR" altLang="en-US" sz="19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451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직선 연결선 84"/>
          <p:cNvCxnSpPr/>
          <p:nvPr/>
        </p:nvCxnSpPr>
        <p:spPr>
          <a:xfrm flipH="1">
            <a:off x="5172534" y="1773582"/>
            <a:ext cx="1" cy="131690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/>
          <p:cNvCxnSpPr/>
          <p:nvPr/>
        </p:nvCxnSpPr>
        <p:spPr>
          <a:xfrm>
            <a:off x="4660771" y="3416753"/>
            <a:ext cx="4944" cy="177319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자유형 4"/>
          <p:cNvSpPr/>
          <p:nvPr/>
        </p:nvSpPr>
        <p:spPr>
          <a:xfrm>
            <a:off x="1078815" y="3244948"/>
            <a:ext cx="7035639" cy="2046255"/>
          </a:xfrm>
          <a:custGeom>
            <a:avLst/>
            <a:gdLst>
              <a:gd name="connsiteX0" fmla="*/ 14515 w 5239658"/>
              <a:gd name="connsiteY0" fmla="*/ 1843314 h 1843314"/>
              <a:gd name="connsiteX1" fmla="*/ 0 w 5239658"/>
              <a:gd name="connsiteY1" fmla="*/ 43543 h 1843314"/>
              <a:gd name="connsiteX2" fmla="*/ 5239658 w 5239658"/>
              <a:gd name="connsiteY2" fmla="*/ 0 h 1843314"/>
              <a:gd name="connsiteX3" fmla="*/ 5239658 w 5239658"/>
              <a:gd name="connsiteY3" fmla="*/ 1770743 h 1843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9658" h="1843314">
                <a:moveTo>
                  <a:pt x="14515" y="1843314"/>
                </a:moveTo>
                <a:lnTo>
                  <a:pt x="0" y="43543"/>
                </a:lnTo>
                <a:lnTo>
                  <a:pt x="5239658" y="0"/>
                </a:lnTo>
                <a:lnTo>
                  <a:pt x="5239658" y="1770743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 flipH="1">
            <a:off x="7147933" y="4792796"/>
            <a:ext cx="1099738" cy="1110404"/>
            <a:chOff x="7543946" y="573868"/>
            <a:chExt cx="838200" cy="992275"/>
          </a:xfrm>
        </p:grpSpPr>
        <p:sp>
          <p:nvSpPr>
            <p:cNvPr id="7" name="Freeform 174"/>
            <p:cNvSpPr>
              <a:spLocks/>
            </p:cNvSpPr>
            <p:nvPr/>
          </p:nvSpPr>
          <p:spPr bwMode="auto">
            <a:xfrm rot="355818">
              <a:off x="8185296" y="1240618"/>
              <a:ext cx="74613" cy="52387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Freeform 175"/>
            <p:cNvSpPr>
              <a:spLocks/>
            </p:cNvSpPr>
            <p:nvPr/>
          </p:nvSpPr>
          <p:spPr bwMode="auto">
            <a:xfrm rot="355818" flipH="1">
              <a:off x="8245621" y="1288243"/>
              <a:ext cx="136525" cy="82550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Freeform 176"/>
            <p:cNvSpPr>
              <a:spLocks/>
            </p:cNvSpPr>
            <p:nvPr/>
          </p:nvSpPr>
          <p:spPr bwMode="auto">
            <a:xfrm rot="355818">
              <a:off x="8239271" y="1316818"/>
              <a:ext cx="134938" cy="58737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Freeform 177"/>
            <p:cNvSpPr>
              <a:spLocks/>
            </p:cNvSpPr>
            <p:nvPr/>
          </p:nvSpPr>
          <p:spPr bwMode="auto">
            <a:xfrm rot="355818" flipH="1">
              <a:off x="8272609" y="1283480"/>
              <a:ext cx="31750" cy="396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78"/>
            <p:cNvSpPr>
              <a:spLocks/>
            </p:cNvSpPr>
            <p:nvPr/>
          </p:nvSpPr>
          <p:spPr bwMode="auto">
            <a:xfrm rot="355818">
              <a:off x="8258321" y="1281893"/>
              <a:ext cx="42863" cy="79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val 179"/>
            <p:cNvSpPr>
              <a:spLocks noChangeArrowheads="1"/>
            </p:cNvSpPr>
            <p:nvPr/>
          </p:nvSpPr>
          <p:spPr bwMode="auto">
            <a:xfrm rot="21219751">
              <a:off x="8277371" y="1278718"/>
              <a:ext cx="19050" cy="952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reeform 180"/>
            <p:cNvSpPr>
              <a:spLocks/>
            </p:cNvSpPr>
            <p:nvPr/>
          </p:nvSpPr>
          <p:spPr bwMode="auto">
            <a:xfrm rot="355818">
              <a:off x="8248796" y="1285068"/>
              <a:ext cx="36513" cy="33337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182"/>
            <p:cNvSpPr>
              <a:spLocks/>
            </p:cNvSpPr>
            <p:nvPr/>
          </p:nvSpPr>
          <p:spPr bwMode="auto">
            <a:xfrm flipH="1">
              <a:off x="7820661" y="1269106"/>
              <a:ext cx="140799" cy="297037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183"/>
            <p:cNvSpPr>
              <a:spLocks/>
            </p:cNvSpPr>
            <p:nvPr/>
          </p:nvSpPr>
          <p:spPr bwMode="auto">
            <a:xfrm flipH="1">
              <a:off x="7834948" y="1254818"/>
              <a:ext cx="140799" cy="297037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Freeform 184"/>
            <p:cNvSpPr>
              <a:spLocks/>
            </p:cNvSpPr>
            <p:nvPr/>
          </p:nvSpPr>
          <p:spPr bwMode="auto">
            <a:xfrm flipH="1">
              <a:off x="7809059" y="1315230"/>
              <a:ext cx="344487" cy="8413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Freeform 185"/>
            <p:cNvSpPr>
              <a:spLocks/>
            </p:cNvSpPr>
            <p:nvPr/>
          </p:nvSpPr>
          <p:spPr bwMode="auto">
            <a:xfrm flipH="1">
              <a:off x="7896371" y="1337455"/>
              <a:ext cx="355600" cy="112713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Freeform 186"/>
            <p:cNvSpPr>
              <a:spLocks/>
            </p:cNvSpPr>
            <p:nvPr/>
          </p:nvSpPr>
          <p:spPr bwMode="auto">
            <a:xfrm flipH="1">
              <a:off x="7829696" y="1400955"/>
              <a:ext cx="90488" cy="4921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Freeform 187"/>
            <p:cNvSpPr>
              <a:spLocks/>
            </p:cNvSpPr>
            <p:nvPr/>
          </p:nvSpPr>
          <p:spPr bwMode="auto">
            <a:xfrm flipH="1">
              <a:off x="7764609" y="1412068"/>
              <a:ext cx="107950" cy="71437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Freeform 189"/>
            <p:cNvSpPr>
              <a:spLocks noChangeAspect="1"/>
            </p:cNvSpPr>
            <p:nvPr/>
          </p:nvSpPr>
          <p:spPr bwMode="auto">
            <a:xfrm>
              <a:off x="7543946" y="1010430"/>
              <a:ext cx="144463" cy="354013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Freeform 190"/>
            <p:cNvSpPr>
              <a:spLocks noChangeAspect="1"/>
            </p:cNvSpPr>
            <p:nvPr/>
          </p:nvSpPr>
          <p:spPr bwMode="auto">
            <a:xfrm>
              <a:off x="7556647" y="950742"/>
              <a:ext cx="619125" cy="288925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 191"/>
            <p:cNvSpPr>
              <a:spLocks/>
            </p:cNvSpPr>
            <p:nvPr/>
          </p:nvSpPr>
          <p:spPr bwMode="auto">
            <a:xfrm>
              <a:off x="7682059" y="1146955"/>
              <a:ext cx="477837" cy="214313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Freeform 192"/>
            <p:cNvSpPr>
              <a:spLocks/>
            </p:cNvSpPr>
            <p:nvPr/>
          </p:nvSpPr>
          <p:spPr bwMode="auto">
            <a:xfrm>
              <a:off x="7701109" y="1275543"/>
              <a:ext cx="144462" cy="60325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Oval 193"/>
            <p:cNvSpPr>
              <a:spLocks noChangeArrowheads="1"/>
            </p:cNvSpPr>
            <p:nvPr/>
          </p:nvSpPr>
          <p:spPr bwMode="auto">
            <a:xfrm>
              <a:off x="7820171" y="1283480"/>
              <a:ext cx="15875" cy="206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Line 194"/>
            <p:cNvSpPr>
              <a:spLocks noChangeShapeType="1"/>
            </p:cNvSpPr>
            <p:nvPr/>
          </p:nvSpPr>
          <p:spPr bwMode="auto">
            <a:xfrm flipH="1">
              <a:off x="8042421" y="1192993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Line 195"/>
            <p:cNvSpPr>
              <a:spLocks noChangeShapeType="1"/>
            </p:cNvSpPr>
            <p:nvPr/>
          </p:nvSpPr>
          <p:spPr bwMode="auto">
            <a:xfrm flipH="1">
              <a:off x="8031309" y="1194580"/>
              <a:ext cx="1587" cy="8096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Line 196"/>
            <p:cNvSpPr>
              <a:spLocks noChangeShapeType="1"/>
            </p:cNvSpPr>
            <p:nvPr/>
          </p:nvSpPr>
          <p:spPr bwMode="auto">
            <a:xfrm flipH="1">
              <a:off x="8055121" y="1191405"/>
              <a:ext cx="4763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Line 197"/>
            <p:cNvSpPr>
              <a:spLocks noChangeShapeType="1"/>
            </p:cNvSpPr>
            <p:nvPr/>
          </p:nvSpPr>
          <p:spPr bwMode="auto">
            <a:xfrm flipH="1">
              <a:off x="8066234" y="1189818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Line 198"/>
            <p:cNvSpPr>
              <a:spLocks noChangeShapeType="1"/>
            </p:cNvSpPr>
            <p:nvPr/>
          </p:nvSpPr>
          <p:spPr bwMode="auto">
            <a:xfrm flipH="1">
              <a:off x="8075759" y="1188230"/>
              <a:ext cx="6350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Line 199"/>
            <p:cNvSpPr>
              <a:spLocks noChangeShapeType="1"/>
            </p:cNvSpPr>
            <p:nvPr/>
          </p:nvSpPr>
          <p:spPr bwMode="auto">
            <a:xfrm flipH="1">
              <a:off x="8086871" y="1185055"/>
              <a:ext cx="6350" cy="777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Line 200"/>
            <p:cNvSpPr>
              <a:spLocks noChangeShapeType="1"/>
            </p:cNvSpPr>
            <p:nvPr/>
          </p:nvSpPr>
          <p:spPr bwMode="auto">
            <a:xfrm flipH="1">
              <a:off x="8097984" y="1185055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Line 201"/>
            <p:cNvSpPr>
              <a:spLocks noChangeShapeType="1"/>
            </p:cNvSpPr>
            <p:nvPr/>
          </p:nvSpPr>
          <p:spPr bwMode="auto">
            <a:xfrm flipH="1">
              <a:off x="8107509" y="1178705"/>
              <a:ext cx="1587" cy="793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Line 202"/>
            <p:cNvSpPr>
              <a:spLocks noChangeShapeType="1"/>
            </p:cNvSpPr>
            <p:nvPr/>
          </p:nvSpPr>
          <p:spPr bwMode="auto">
            <a:xfrm flipH="1">
              <a:off x="8117034" y="1178705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Line 203"/>
            <p:cNvSpPr>
              <a:spLocks noChangeShapeType="1"/>
            </p:cNvSpPr>
            <p:nvPr/>
          </p:nvSpPr>
          <p:spPr bwMode="auto">
            <a:xfrm flipH="1">
              <a:off x="8128146" y="1177118"/>
              <a:ext cx="1588" cy="7778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Line 204"/>
            <p:cNvSpPr>
              <a:spLocks noChangeShapeType="1"/>
            </p:cNvSpPr>
            <p:nvPr/>
          </p:nvSpPr>
          <p:spPr bwMode="auto">
            <a:xfrm flipH="1">
              <a:off x="8139259" y="1175530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Freeform 205"/>
            <p:cNvSpPr>
              <a:spLocks/>
            </p:cNvSpPr>
            <p:nvPr/>
          </p:nvSpPr>
          <p:spPr bwMode="auto">
            <a:xfrm>
              <a:off x="7888434" y="1224743"/>
              <a:ext cx="79375" cy="61912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Line 206"/>
            <p:cNvSpPr>
              <a:spLocks noChangeShapeType="1"/>
            </p:cNvSpPr>
            <p:nvPr/>
          </p:nvSpPr>
          <p:spPr bwMode="auto">
            <a:xfrm flipH="1">
              <a:off x="7899546" y="1259668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Line 207"/>
            <p:cNvSpPr>
              <a:spLocks noChangeShapeType="1"/>
            </p:cNvSpPr>
            <p:nvPr/>
          </p:nvSpPr>
          <p:spPr bwMode="auto">
            <a:xfrm flipH="1">
              <a:off x="7961459" y="1245380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Line 208"/>
            <p:cNvSpPr>
              <a:spLocks noChangeShapeType="1"/>
            </p:cNvSpPr>
            <p:nvPr/>
          </p:nvSpPr>
          <p:spPr bwMode="auto">
            <a:xfrm flipH="1">
              <a:off x="7953521" y="1254905"/>
              <a:ext cx="0" cy="1428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Line 209"/>
            <p:cNvSpPr>
              <a:spLocks noChangeShapeType="1"/>
            </p:cNvSpPr>
            <p:nvPr/>
          </p:nvSpPr>
          <p:spPr bwMode="auto">
            <a:xfrm flipH="1">
              <a:off x="7909071" y="1267605"/>
              <a:ext cx="0" cy="1270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Line 210"/>
            <p:cNvSpPr>
              <a:spLocks noChangeShapeType="1"/>
            </p:cNvSpPr>
            <p:nvPr/>
          </p:nvSpPr>
          <p:spPr bwMode="auto">
            <a:xfrm flipV="1">
              <a:off x="7918596" y="1269193"/>
              <a:ext cx="25400" cy="635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Freeform 211"/>
            <p:cNvSpPr>
              <a:spLocks/>
            </p:cNvSpPr>
            <p:nvPr/>
          </p:nvSpPr>
          <p:spPr bwMode="auto">
            <a:xfrm>
              <a:off x="7724921" y="1239030"/>
              <a:ext cx="100013" cy="36513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Line 212"/>
            <p:cNvSpPr>
              <a:spLocks noChangeShapeType="1"/>
            </p:cNvSpPr>
            <p:nvPr/>
          </p:nvSpPr>
          <p:spPr bwMode="auto">
            <a:xfrm flipV="1">
              <a:off x="7716984" y="1245380"/>
              <a:ext cx="112712" cy="22225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4" name="Group 150"/>
            <p:cNvGrpSpPr>
              <a:grpSpLocks/>
            </p:cNvGrpSpPr>
            <p:nvPr/>
          </p:nvGrpSpPr>
          <p:grpSpPr bwMode="auto">
            <a:xfrm>
              <a:off x="7609034" y="631018"/>
              <a:ext cx="328612" cy="369887"/>
              <a:chOff x="685" y="3115"/>
              <a:chExt cx="207" cy="233"/>
            </a:xfrm>
          </p:grpSpPr>
          <p:sp>
            <p:nvSpPr>
              <p:cNvPr id="5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8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8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5" name="Oval 217"/>
            <p:cNvSpPr>
              <a:spLocks noChangeArrowheads="1"/>
            </p:cNvSpPr>
            <p:nvPr/>
          </p:nvSpPr>
          <p:spPr bwMode="auto">
            <a:xfrm>
              <a:off x="7693171" y="1029480"/>
              <a:ext cx="298450" cy="9366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218"/>
            <p:cNvSpPr>
              <a:spLocks noChangeArrowheads="1"/>
            </p:cNvSpPr>
            <p:nvPr/>
          </p:nvSpPr>
          <p:spPr bwMode="auto">
            <a:xfrm>
              <a:off x="7693171" y="1023130"/>
              <a:ext cx="298450" cy="92075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Freeform 219"/>
            <p:cNvSpPr>
              <a:spLocks/>
            </p:cNvSpPr>
            <p:nvPr/>
          </p:nvSpPr>
          <p:spPr bwMode="auto">
            <a:xfrm flipH="1">
              <a:off x="7674121" y="575455"/>
              <a:ext cx="436563" cy="51117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Freeform 220"/>
            <p:cNvSpPr>
              <a:spLocks/>
            </p:cNvSpPr>
            <p:nvPr/>
          </p:nvSpPr>
          <p:spPr bwMode="auto">
            <a:xfrm flipH="1">
              <a:off x="7732859" y="989793"/>
              <a:ext cx="358775" cy="968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Freeform 221"/>
            <p:cNvSpPr>
              <a:spLocks/>
            </p:cNvSpPr>
            <p:nvPr/>
          </p:nvSpPr>
          <p:spPr bwMode="auto">
            <a:xfrm flipH="1">
              <a:off x="7661421" y="634193"/>
              <a:ext cx="15875" cy="45243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val 222"/>
            <p:cNvSpPr>
              <a:spLocks noChangeArrowheads="1"/>
            </p:cNvSpPr>
            <p:nvPr/>
          </p:nvSpPr>
          <p:spPr bwMode="auto">
            <a:xfrm>
              <a:off x="8059884" y="997730"/>
              <a:ext cx="12700" cy="2698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Oval 223"/>
            <p:cNvSpPr>
              <a:spLocks noChangeArrowheads="1"/>
            </p:cNvSpPr>
            <p:nvPr/>
          </p:nvSpPr>
          <p:spPr bwMode="auto">
            <a:xfrm>
              <a:off x="8036071" y="1004080"/>
              <a:ext cx="11113" cy="2222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Oval 224"/>
            <p:cNvSpPr>
              <a:spLocks noChangeArrowheads="1"/>
            </p:cNvSpPr>
            <p:nvPr/>
          </p:nvSpPr>
          <p:spPr bwMode="auto">
            <a:xfrm>
              <a:off x="7953521" y="1024718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Oval 225"/>
            <p:cNvSpPr>
              <a:spLocks noChangeArrowheads="1"/>
            </p:cNvSpPr>
            <p:nvPr/>
          </p:nvSpPr>
          <p:spPr bwMode="auto">
            <a:xfrm>
              <a:off x="7928121" y="1029480"/>
              <a:ext cx="12700" cy="174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Oval 226"/>
            <p:cNvSpPr>
              <a:spLocks noChangeArrowheads="1"/>
            </p:cNvSpPr>
            <p:nvPr/>
          </p:nvSpPr>
          <p:spPr bwMode="auto">
            <a:xfrm>
              <a:off x="7899546" y="1034243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Freeform 227"/>
            <p:cNvSpPr>
              <a:spLocks/>
            </p:cNvSpPr>
            <p:nvPr/>
          </p:nvSpPr>
          <p:spPr bwMode="auto">
            <a:xfrm flipH="1">
              <a:off x="7715396" y="626255"/>
              <a:ext cx="361950" cy="401638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Freeform 228"/>
            <p:cNvSpPr>
              <a:spLocks/>
            </p:cNvSpPr>
            <p:nvPr/>
          </p:nvSpPr>
          <p:spPr bwMode="auto">
            <a:xfrm flipH="1">
              <a:off x="7661421" y="573868"/>
              <a:ext cx="447675" cy="63500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0" name="AutoShape 26"/>
          <p:cNvSpPr>
            <a:spLocks noChangeArrowheads="1"/>
          </p:cNvSpPr>
          <p:nvPr/>
        </p:nvSpPr>
        <p:spPr bwMode="auto">
          <a:xfrm>
            <a:off x="3852960" y="3043595"/>
            <a:ext cx="1618380" cy="476536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ko-KR" altLang="en-US" sz="1800" b="0" ker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WordArt 28"/>
          <p:cNvSpPr>
            <a:spLocks noChangeArrowheads="1" noChangeShapeType="1" noTextEdit="1"/>
          </p:cNvSpPr>
          <p:nvPr/>
        </p:nvSpPr>
        <p:spPr bwMode="auto">
          <a:xfrm>
            <a:off x="3981565" y="3332749"/>
            <a:ext cx="1085792" cy="1680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3600" kern="10" dirty="0" smtClean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HUB/NAT</a:t>
            </a:r>
            <a:endParaRPr lang="ko-KR" altLang="en-US" sz="3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1081" y="4529896"/>
            <a:ext cx="1541777" cy="1461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Text Box 142"/>
          <p:cNvSpPr txBox="1">
            <a:spLocks noChangeArrowheads="1"/>
          </p:cNvSpPr>
          <p:nvPr/>
        </p:nvSpPr>
        <p:spPr bwMode="auto">
          <a:xfrm>
            <a:off x="502027" y="5858044"/>
            <a:ext cx="233849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ZeekIDS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(Ubuntu)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192.168.10.20/24</a:t>
            </a:r>
          </a:p>
        </p:txBody>
      </p:sp>
      <p:pic>
        <p:nvPicPr>
          <p:cNvPr id="67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809236" y="4396227"/>
            <a:ext cx="1613029" cy="152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Text Box 142"/>
          <p:cNvSpPr txBox="1">
            <a:spLocks noChangeArrowheads="1"/>
          </p:cNvSpPr>
          <p:nvPr/>
        </p:nvSpPr>
        <p:spPr bwMode="auto">
          <a:xfrm>
            <a:off x="5284346" y="1872577"/>
            <a:ext cx="327156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SplunkServer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(Ubuntu)</a:t>
            </a:r>
          </a:p>
          <a:p>
            <a:pPr>
              <a:defRPr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192.168.10.10/24</a:t>
            </a:r>
          </a:p>
          <a:p>
            <a:pPr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Box 142"/>
          <p:cNvSpPr txBox="1">
            <a:spLocks noChangeArrowheads="1"/>
          </p:cNvSpPr>
          <p:nvPr/>
        </p:nvSpPr>
        <p:spPr bwMode="auto">
          <a:xfrm>
            <a:off x="6947729" y="5853526"/>
            <a:ext cx="166725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Sysmon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(Win10)</a:t>
            </a:r>
          </a:p>
          <a:p>
            <a:pPr>
              <a:defRPr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192.168.10.40/24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Box 142"/>
          <p:cNvSpPr txBox="1">
            <a:spLocks noChangeArrowheads="1"/>
          </p:cNvSpPr>
          <p:nvPr/>
        </p:nvSpPr>
        <p:spPr bwMode="auto">
          <a:xfrm>
            <a:off x="3863655" y="5850809"/>
            <a:ext cx="188025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WebServer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CentOS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defRPr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192.168.10.30/24  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슬라이드 번호 개체 틀 101"/>
          <p:cNvSpPr>
            <a:spLocks noGrp="1"/>
          </p:cNvSpPr>
          <p:nvPr>
            <p:ph type="sldNum" sz="quarter" idx="12"/>
          </p:nvPr>
        </p:nvSpPr>
        <p:spPr>
          <a:xfrm>
            <a:off x="6920131" y="6344109"/>
            <a:ext cx="2057400" cy="365125"/>
          </a:xfrm>
        </p:spPr>
        <p:txBody>
          <a:bodyPr/>
          <a:lstStyle/>
          <a:p>
            <a:fld id="{39952D2E-F142-4F08-8A6B-C0F347A8400D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8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784" y="508163"/>
            <a:ext cx="1614813" cy="152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TextBox 82"/>
          <p:cNvSpPr txBox="1"/>
          <p:nvPr/>
        </p:nvSpPr>
        <p:spPr>
          <a:xfrm>
            <a:off x="7738728" y="4670442"/>
            <a:ext cx="106253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 smtClean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sysmon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52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4412" y="257324"/>
            <a:ext cx="7886700" cy="70876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Win10] </a:t>
            </a:r>
            <a:r>
              <a:rPr lang="en-US" altLang="ko-KR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Sysmon</a:t>
            </a: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Installation 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474412" y="1350517"/>
            <a:ext cx="7886700" cy="11104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ko-KR" altLang="en-US" sz="22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파일 다운로드 후 설치 </a:t>
            </a:r>
            <a:endParaRPr lang="en-US" altLang="ko-K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https://download.sysinternals.com/files/Sysmon.zip</a:t>
            </a:r>
            <a:endParaRPr lang="ko-KR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34" y="2557908"/>
            <a:ext cx="6908521" cy="319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96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3123" y="1106186"/>
            <a:ext cx="7886700" cy="1285809"/>
          </a:xfrm>
        </p:spPr>
        <p:txBody>
          <a:bodyPr>
            <a:normAutofit/>
          </a:bodyPr>
          <a:lstStyle/>
          <a:p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C:\&gt;cd /user\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sysmon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\desktop\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sysmon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:\&gt; sysmon64.exe  -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accepteula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ko-KR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" y="2583703"/>
            <a:ext cx="8422041" cy="3389233"/>
          </a:xfrm>
          <a:prstGeom prst="rect">
            <a:avLst/>
          </a:prstGeom>
        </p:spPr>
      </p:pic>
      <p:sp>
        <p:nvSpPr>
          <p:cNvPr id="6" name="제목 1"/>
          <p:cNvSpPr txBox="1">
            <a:spLocks/>
          </p:cNvSpPr>
          <p:nvPr/>
        </p:nvSpPr>
        <p:spPr>
          <a:xfrm>
            <a:off x="338137" y="167540"/>
            <a:ext cx="7886700" cy="11104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❷ </a:t>
            </a:r>
            <a:r>
              <a:rPr lang="en-US" altLang="ko-KR" sz="24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sysmon</a:t>
            </a: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4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활성화 </a:t>
            </a:r>
            <a:endParaRPr lang="ko-K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3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33675" cy="33147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233" y="2264292"/>
            <a:ext cx="7761767" cy="459370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2991026" y="21685"/>
            <a:ext cx="5848174" cy="11104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❸ </a:t>
            </a:r>
            <a:r>
              <a:rPr lang="ko-KR" altLang="en-US" sz="24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이벤트뷰어 확인</a:t>
            </a:r>
            <a:endParaRPr lang="ko-K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08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2280</TotalTime>
  <Words>159</Words>
  <Application>Microsoft Office PowerPoint</Application>
  <PresentationFormat>화면 슬라이드 쇼(4:3)</PresentationFormat>
  <Paragraphs>40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Microsoft JhengHei</vt:lpstr>
      <vt:lpstr>맑은 고딕</vt:lpstr>
      <vt:lpstr>함초롬바탕</vt:lpstr>
      <vt:lpstr>Arial</vt:lpstr>
      <vt:lpstr>Calibri</vt:lpstr>
      <vt:lpstr>Calibri Light</vt:lpstr>
      <vt:lpstr>Times New Roman</vt:lpstr>
      <vt:lpstr>Office 테마</vt:lpstr>
      <vt:lpstr>    Sysmon Installation</vt:lpstr>
      <vt:lpstr>Sysmon</vt:lpstr>
      <vt:lpstr>Sysmon 기능(p.193) </vt:lpstr>
      <vt:lpstr>PowerPoint 프레젠테이션</vt:lpstr>
      <vt:lpstr>[Win10] Sysmon Installation </vt:lpstr>
      <vt:lpstr>C:\&gt;cd /user\sysmon\desktop\sysmon  C:\&gt; sysmon64.exe  -accepteula –i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로그 수집 환경 구성</dc:title>
  <dc:creator>Microsoft 계정</dc:creator>
  <cp:lastModifiedBy>Microsoft 계정</cp:lastModifiedBy>
  <cp:revision>291</cp:revision>
  <cp:lastPrinted>2022-08-07T09:53:47Z</cp:lastPrinted>
  <dcterms:created xsi:type="dcterms:W3CDTF">2022-07-30T01:23:41Z</dcterms:created>
  <dcterms:modified xsi:type="dcterms:W3CDTF">2022-08-08T14:47:36Z</dcterms:modified>
</cp:coreProperties>
</file>