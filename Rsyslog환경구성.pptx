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376" r:id="rId2"/>
    <p:sldId id="497" r:id="rId3"/>
    <p:sldId id="498" r:id="rId4"/>
    <p:sldId id="499" r:id="rId5"/>
    <p:sldId id="501" r:id="rId6"/>
    <p:sldId id="502" r:id="rId7"/>
    <p:sldId id="503" r:id="rId8"/>
    <p:sldId id="504" r:id="rId9"/>
    <p:sldId id="505" r:id="rId10"/>
    <p:sldId id="506" r:id="rId11"/>
    <p:sldId id="508" r:id="rId12"/>
    <p:sldId id="509" r:id="rId13"/>
    <p:sldId id="510" r:id="rId14"/>
    <p:sldId id="511" r:id="rId15"/>
    <p:sldId id="516" r:id="rId16"/>
    <p:sldId id="517" r:id="rId17"/>
    <p:sldId id="518" r:id="rId18"/>
    <p:sldId id="530" r:id="rId19"/>
    <p:sldId id="529" r:id="rId20"/>
    <p:sldId id="520" r:id="rId21"/>
    <p:sldId id="521" r:id="rId22"/>
    <p:sldId id="522" r:id="rId23"/>
    <p:sldId id="523" r:id="rId24"/>
    <p:sldId id="524" r:id="rId25"/>
    <p:sldId id="525" r:id="rId26"/>
    <p:sldId id="526" r:id="rId27"/>
    <p:sldId id="527" r:id="rId28"/>
    <p:sldId id="528" r:id="rId29"/>
    <p:sldId id="486" r:id="rId30"/>
    <p:sldId id="488" r:id="rId31"/>
    <p:sldId id="379" r:id="rId32"/>
    <p:sldId id="489" r:id="rId33"/>
    <p:sldId id="490" r:id="rId34"/>
    <p:sldId id="491" r:id="rId35"/>
    <p:sldId id="382" r:id="rId36"/>
    <p:sldId id="492" r:id="rId37"/>
    <p:sldId id="378" r:id="rId38"/>
    <p:sldId id="385" r:id="rId39"/>
    <p:sldId id="494" r:id="rId40"/>
    <p:sldId id="386" r:id="rId41"/>
    <p:sldId id="387" r:id="rId42"/>
    <p:sldId id="496" r:id="rId43"/>
    <p:sldId id="388" r:id="rId44"/>
    <p:sldId id="390" r:id="rId45"/>
    <p:sldId id="393" r:id="rId46"/>
  </p:sldIdLst>
  <p:sldSz cx="9144000" cy="6858000" type="screen4x3"/>
  <p:notesSz cx="7102475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80316" autoAdjust="0"/>
  </p:normalViewPr>
  <p:slideViewPr>
    <p:cSldViewPr snapToGrid="0">
      <p:cViewPr varScale="1">
        <p:scale>
          <a:sx n="68" d="100"/>
          <a:sy n="68" d="100"/>
        </p:scale>
        <p:origin x="1838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7739" cy="51350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39" cy="51350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7F62BA05-A9BB-4697-A3BD-35719849218B}" type="datetimeFigureOut">
              <a:rPr lang="ko-KR" altLang="en-US" smtClean="0"/>
              <a:t>2022-08-09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4768" tIns="47384" rIns="94768" bIns="47384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7739" cy="513507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093" y="9721107"/>
            <a:ext cx="3077739" cy="513507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E83010E8-AC17-4DAC-8AD3-A9A67DF46E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972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3010E8-AC17-4DAC-8AD3-A9A67DF46E4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452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C5D68D-D604-46E7-A9B5-FE832D1D4122}" type="slidenum">
              <a:rPr lang="en-US" altLang="ko-KR" smtClean="0"/>
              <a:pPr>
                <a:defRPr/>
              </a:pPr>
              <a:t>19</a:t>
            </a:fld>
            <a:endParaRPr lang="en-US" altLang="ko-KR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777036" y="5395317"/>
          <a:ext cx="5939630" cy="3428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4392"/>
                <a:gridCol w="4935237"/>
              </a:tblGrid>
              <a:tr h="2637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Facility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설명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*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모든</a:t>
                      </a:r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000" b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서비스를 의미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auth</a:t>
                      </a:r>
                      <a:endParaRPr lang="ko-KR" altLang="en-US" sz="1000" b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Login</a:t>
                      </a:r>
                      <a:r>
                        <a:rPr lang="ko-KR" altLang="en-US" sz="1000" b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과 </a:t>
                      </a:r>
                      <a:r>
                        <a:rPr lang="en-US" altLang="ko-KR" sz="1000" b="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su</a:t>
                      </a:r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000" b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처럼 사용자 권한을 사용하거나 변경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authpriv</a:t>
                      </a:r>
                      <a:endParaRPr lang="ko-KR" altLang="en-US" sz="1000" b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선택된 사용자만 읽을 수 있는 파일에 로그를 남기는 것과 제외하면 </a:t>
                      </a:r>
                      <a:r>
                        <a:rPr lang="en-US" altLang="ko-KR" sz="1000" b="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auth</a:t>
                      </a:r>
                      <a:r>
                        <a:rPr lang="ko-KR" altLang="en-US" sz="1000" b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와 동일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cron</a:t>
                      </a:r>
                      <a:endParaRPr lang="ko-KR" altLang="en-US" sz="1000" b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시스템 </a:t>
                      </a:r>
                      <a:r>
                        <a:rPr lang="ko-KR" altLang="en-US" sz="1000" b="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스케쥴러에서</a:t>
                      </a:r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보내는 메시지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daemon</a:t>
                      </a:r>
                      <a:endParaRPr lang="ko-KR" altLang="en-US" sz="1000" b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별도의 </a:t>
                      </a:r>
                      <a:r>
                        <a:rPr lang="ko-KR" altLang="en-US" sz="1000" b="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핸들러가</a:t>
                      </a:r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없는 모든 시스템 </a:t>
                      </a:r>
                      <a:r>
                        <a:rPr lang="ko-KR" altLang="en-US" sz="1000" b="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데몬의</a:t>
                      </a:r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로그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kern</a:t>
                      </a:r>
                      <a:endParaRPr lang="ko-KR" altLang="en-US" sz="1000" b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커널</a:t>
                      </a:r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메시지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</a:tr>
              <a:tr h="2637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ntp</a:t>
                      </a:r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Network</a:t>
                      </a:r>
                      <a:r>
                        <a:rPr lang="en-US" altLang="ko-KR" sz="1000" b="0" baseline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Time Protocol</a:t>
                      </a:r>
                      <a:r>
                        <a:rPr lang="ko-KR" altLang="en-US" sz="1000" b="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이</a:t>
                      </a:r>
                      <a:r>
                        <a:rPr lang="en-US" altLang="ko-KR" sz="1000" b="0" baseline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000" b="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보내는 메시지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security </a:t>
                      </a:r>
                      <a:endParaRPr lang="ko-KR" altLang="en-US" sz="1000" b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각종 보안 시스템이 보내는 메시지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syslog</a:t>
                      </a:r>
                      <a:endParaRPr lang="ko-KR" altLang="en-US" sz="1000" b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로그 서비스 자체적으로 로그를 남길 수 있음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user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사용자 프로그램에 대한 </a:t>
                      </a:r>
                      <a:r>
                        <a:rPr lang="ko-KR" altLang="en-US" sz="1000" b="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로깅</a:t>
                      </a:r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uucp</a:t>
                      </a:r>
                      <a:r>
                        <a:rPr lang="en-US" altLang="ko-KR" sz="1000" b="0" baseline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endParaRPr lang="ko-KR" altLang="en-US" sz="1000" b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Unix-to Unix Copy </a:t>
                      </a:r>
                      <a:r>
                        <a:rPr lang="ko-KR" altLang="en-US" sz="1000" b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프로토콜이 보내는 로그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local0∽7</a:t>
                      </a:r>
                      <a:endParaRPr lang="ko-KR" altLang="en-US" sz="1000" b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Local</a:t>
                      </a:r>
                      <a:r>
                        <a:rPr lang="en-US" altLang="ko-KR" sz="1000" b="0" baseline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0</a:t>
                      </a:r>
                      <a:r>
                        <a:rPr lang="ko-KR" altLang="en-US" sz="1000" b="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에서 </a:t>
                      </a:r>
                      <a:r>
                        <a:rPr lang="en-US" altLang="ko-KR" sz="1000" b="0" baseline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local7</a:t>
                      </a:r>
                      <a:r>
                        <a:rPr lang="ko-KR" altLang="en-US" sz="1000" b="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관리자가 사용할 수 있도록 예약된것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777036" y="8967915"/>
          <a:ext cx="6017547" cy="2110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0744"/>
                <a:gridCol w="3928438"/>
                <a:gridCol w="1058364"/>
              </a:tblGrid>
              <a:tr h="2637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Priority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설명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Emergency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시스템이 비정상적인 상태</a:t>
                      </a:r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, </a:t>
                      </a:r>
                      <a:r>
                        <a:rPr lang="ko-KR" altLang="en-US" sz="1000" b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시템이 멈췄거나 불안정한 상태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 rowSpan="7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Alert</a:t>
                      </a:r>
                      <a:endParaRPr lang="ko-KR" altLang="en-US" sz="1000" b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시스템을 계속 가동 시킬 수 있지만 즉각 </a:t>
                      </a:r>
                      <a:r>
                        <a:rPr lang="ko-KR" altLang="en-US" sz="1000" b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조치해야 함</a:t>
                      </a:r>
                      <a:r>
                        <a:rPr lang="en-US" altLang="ko-KR" sz="1000" b="0" baseline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Critical</a:t>
                      </a:r>
                      <a:r>
                        <a:rPr lang="en-US" altLang="ko-KR" sz="1000" b="0" baseline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endParaRPr lang="ko-KR" altLang="en-US" sz="1000" b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하드웨어나 심각한 소프트웨어 문제 같은 치명적인 오류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Error</a:t>
                      </a:r>
                      <a:endParaRPr lang="ko-KR" altLang="en-US" sz="1000" b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일반적인 에러</a:t>
                      </a:r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/</a:t>
                      </a:r>
                      <a:r>
                        <a:rPr lang="ko-KR" altLang="en-US" sz="1000" b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오류가 발생한 상황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Warning</a:t>
                      </a:r>
                      <a:endParaRPr lang="ko-KR" altLang="en-US" sz="1000" b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경고 메시지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</a:tr>
              <a:tr h="2637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Information</a:t>
                      </a:r>
                      <a:r>
                        <a:rPr lang="en-US" altLang="ko-KR" sz="1000" b="0" baseline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endParaRPr lang="ko-KR" altLang="en-US" sz="1000" b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일반적인 시스템 정보</a:t>
                      </a:r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, </a:t>
                      </a:r>
                      <a:r>
                        <a:rPr lang="ko-KR" altLang="en-US" sz="1000" b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의미 있는</a:t>
                      </a:r>
                      <a:r>
                        <a:rPr lang="ko-KR" altLang="en-US" sz="1000" b="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정보 관련 메시지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</a:tr>
              <a:tr h="2637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Debug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프로그램 동작 원리를 알고자 하는 시스템 관리자가 사용 </a:t>
                      </a:r>
                      <a:endParaRPr lang="ko-KR" altLang="en-US" sz="10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98946" marR="98946" marT="52752" marB="52752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" name="직선 화살표 연결선 8"/>
          <p:cNvCxnSpPr/>
          <p:nvPr/>
        </p:nvCxnSpPr>
        <p:spPr>
          <a:xfrm>
            <a:off x="5859558" y="9383333"/>
            <a:ext cx="0" cy="157859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59560" y="10012826"/>
            <a:ext cx="707506" cy="257573"/>
          </a:xfrm>
          <a:prstGeom prst="rect">
            <a:avLst/>
          </a:prstGeom>
          <a:noFill/>
        </p:spPr>
        <p:txBody>
          <a:bodyPr wrap="none" lIns="102682" tIns="51341" rIns="102682" bIns="51341" rtlCol="0">
            <a:spAutoFit/>
          </a:bodyPr>
          <a:lstStyle/>
          <a:p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우선순위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6193" y="9320539"/>
            <a:ext cx="457438" cy="257573"/>
          </a:xfrm>
          <a:prstGeom prst="rect">
            <a:avLst/>
          </a:prstGeom>
          <a:noFill/>
        </p:spPr>
        <p:txBody>
          <a:bodyPr wrap="none" lIns="102682" tIns="51341" rIns="102682" bIns="51341" rtlCol="0">
            <a:spAutoFit/>
          </a:bodyPr>
          <a:lstStyle/>
          <a:p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높음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6193" y="10729260"/>
            <a:ext cx="457438" cy="257573"/>
          </a:xfrm>
          <a:prstGeom prst="rect">
            <a:avLst/>
          </a:prstGeom>
          <a:noFill/>
        </p:spPr>
        <p:txBody>
          <a:bodyPr wrap="none" lIns="102682" tIns="51341" rIns="102682" bIns="51341" rtlCol="0">
            <a:spAutoFit/>
          </a:bodyPr>
          <a:lstStyle/>
          <a:p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낮음</a:t>
            </a:r>
          </a:p>
        </p:txBody>
      </p:sp>
    </p:spTree>
    <p:extLst>
      <p:ext uri="{BB962C8B-B14F-4D97-AF65-F5344CB8AC3E}">
        <p14:creationId xmlns:p14="http://schemas.microsoft.com/office/powerpoint/2010/main" val="124080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3010E8-AC17-4DAC-8AD3-A9A67DF46E4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70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76132-153F-44AC-8E4D-BD92396BD143}" type="datetime1">
              <a:rPr lang="ko-KR" altLang="en-US" smtClean="0"/>
              <a:t>2022-08-09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9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8C-B0FA-487B-BF5E-C07ACA3AD2BB}" type="datetime1">
              <a:rPr lang="ko-KR" altLang="en-US" smtClean="0"/>
              <a:t>2022-08-09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049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6BB17-1EB1-4F7E-BF79-002E66935AEF}" type="datetime1">
              <a:rPr lang="ko-KR" altLang="en-US" smtClean="0"/>
              <a:t>2022-08-09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19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FBC6-9D62-49B1-A9A7-A7F89E0025E7}" type="datetime1">
              <a:rPr lang="ko-KR" altLang="en-US" smtClean="0"/>
              <a:t>2022-08-09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005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A3A9E-54A7-424A-8D1E-24ABC0044D31}" type="datetime1">
              <a:rPr lang="ko-KR" altLang="en-US" smtClean="0"/>
              <a:t>2022-08-09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095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3455C-080E-46C2-BAEF-48680D1C2BCA}" type="datetime1">
              <a:rPr lang="ko-KR" altLang="en-US" smtClean="0"/>
              <a:t>2022-08-09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0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3097-6653-4303-B99F-80744A715F20}" type="datetime1">
              <a:rPr lang="ko-KR" altLang="en-US" smtClean="0"/>
              <a:t>2022-08-09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103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25BB4-9818-45CD-BAC1-176BAFAB509E}" type="datetime1">
              <a:rPr lang="ko-KR" altLang="en-US" smtClean="0"/>
              <a:t>2022-08-09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46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4A8D-8DCC-4D29-B60A-F3B142B9B2BC}" type="datetime1">
              <a:rPr lang="ko-KR" altLang="en-US" smtClean="0"/>
              <a:t>2022-08-09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614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F765-9828-442B-B7F8-562BD7E4AC08}" type="datetime1">
              <a:rPr lang="ko-KR" altLang="en-US" smtClean="0"/>
              <a:t>2022-08-09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02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ADC6-0A74-4C1A-BE0C-61AD72B7A701}" type="datetime1">
              <a:rPr lang="ko-KR" altLang="en-US" smtClean="0"/>
              <a:t>2022-08-09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276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124744"/>
            <a:ext cx="7920880" cy="5001419"/>
          </a:xfrm>
        </p:spPr>
        <p:txBody>
          <a:bodyPr/>
          <a:lstStyle>
            <a:lvl1pPr>
              <a:defRPr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>
              <a:defRPr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2pPr>
            <a:lvl3pPr marL="981075" indent="-228600">
              <a:defRPr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3pPr>
            <a:lvl4pPr>
              <a:defRPr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4pPr>
            <a:lvl5pPr>
              <a:defRPr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BEDA1-FD4F-46C7-81A2-F56427E1DE85}" type="datetime1">
              <a:rPr lang="ko-KR" altLang="en-US" smtClean="0"/>
              <a:t>2022-08-09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858016" y="6431004"/>
            <a:ext cx="2133600" cy="365125"/>
          </a:xfrm>
        </p:spPr>
        <p:txBody>
          <a:bodyPr/>
          <a:lstStyle>
            <a:lvl1pPr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5DC1D29-70A3-4759-9D6D-98753CD5BFD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762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000" y="260648"/>
            <a:ext cx="8640000" cy="46709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585">
                <a:solidFill>
                  <a:schemeClr val="tx2">
                    <a:lumMod val="50000"/>
                  </a:schemeClr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" name="내용 개체 틀 2"/>
          <p:cNvSpPr>
            <a:spLocks noGrp="1"/>
          </p:cNvSpPr>
          <p:nvPr>
            <p:ph idx="1"/>
          </p:nvPr>
        </p:nvSpPr>
        <p:spPr>
          <a:xfrm>
            <a:off x="252000" y="1046976"/>
            <a:ext cx="8640000" cy="5523764"/>
          </a:xfrm>
          <a:prstGeom prst="rect">
            <a:avLst/>
          </a:prstGeom>
          <a:ln w="1270">
            <a:noFill/>
          </a:ln>
        </p:spPr>
        <p:txBody>
          <a:bodyPr lIns="72000" tIns="0" rIns="72000" bIns="72000"/>
          <a:lstStyle>
            <a:lvl1pPr marL="332316" indent="-332316" algn="just">
              <a:lnSpc>
                <a:spcPct val="150000"/>
              </a:lnSpc>
              <a:spcBef>
                <a:spcPts val="0"/>
              </a:spcBef>
              <a:spcAft>
                <a:spcPts val="369"/>
              </a:spcAft>
              <a:buClr>
                <a:schemeClr val="tx2"/>
              </a:buClr>
              <a:buFontTx/>
              <a:buBlip>
                <a:blip r:embed="rId2"/>
              </a:buBlip>
              <a:defRPr sz="1662" b="1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 marL="498474" indent="-199390" algn="just">
              <a:lnSpc>
                <a:spcPct val="150000"/>
              </a:lnSpc>
              <a:spcBef>
                <a:spcPts val="0"/>
              </a:spcBef>
              <a:spcAft>
                <a:spcPts val="369"/>
              </a:spcAft>
              <a:buFont typeface="Wingdings" panose="05000000000000000000" pitchFamily="2" charset="2"/>
              <a:buChar char="l"/>
              <a:defRPr sz="1662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2pPr>
            <a:lvl3pPr marL="697864" indent="-199390" algn="just">
              <a:lnSpc>
                <a:spcPct val="150000"/>
              </a:lnSpc>
              <a:spcBef>
                <a:spcPts val="0"/>
              </a:spcBef>
              <a:spcAft>
                <a:spcPts val="369"/>
              </a:spcAft>
              <a:buFont typeface="Wingdings" panose="05000000000000000000" pitchFamily="2" charset="2"/>
              <a:buChar char="Ø"/>
              <a:defRPr sz="1662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3pPr>
            <a:lvl4pPr marL="930485" indent="-199390" algn="just">
              <a:lnSpc>
                <a:spcPct val="150000"/>
              </a:lnSpc>
              <a:spcBef>
                <a:spcPts val="0"/>
              </a:spcBef>
              <a:spcAft>
                <a:spcPts val="369"/>
              </a:spcAft>
              <a:buFont typeface="Wingdings" panose="05000000000000000000" pitchFamily="2" charset="2"/>
              <a:buChar char="ü"/>
              <a:defRPr sz="1662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4pPr>
            <a:lvl5pPr marL="1096643" indent="-166158" algn="just">
              <a:lnSpc>
                <a:spcPct val="150000"/>
              </a:lnSpc>
              <a:spcBef>
                <a:spcPts val="0"/>
              </a:spcBef>
              <a:spcAft>
                <a:spcPts val="369"/>
              </a:spcAft>
              <a:buFont typeface="Arial" panose="020B0604020202020204" pitchFamily="34" charset="0"/>
              <a:buChar char="•"/>
              <a:defRPr sz="1662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02291818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A218D-01EA-4F7E-B2FA-C492305DA523}" type="datetime1">
              <a:rPr lang="ko-KR" altLang="en-US" smtClean="0"/>
              <a:t>2022-08-09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565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syslog.com/windows-agent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90600" y="1054629"/>
            <a:ext cx="7772400" cy="988659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Installation</a:t>
            </a:r>
            <a:endParaRPr lang="ko-KR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990600" y="2043288"/>
            <a:ext cx="615526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[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Splunk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server] 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installation</a:t>
            </a:r>
          </a:p>
          <a:p>
            <a:pPr>
              <a:lnSpc>
                <a:spcPct val="200000"/>
              </a:lnSpc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[Ubuntu-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installation</a:t>
            </a:r>
          </a:p>
          <a:p>
            <a:pPr>
              <a:lnSpc>
                <a:spcPct val="200000"/>
              </a:lnSpc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[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CentOS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installation </a:t>
            </a:r>
          </a:p>
          <a:p>
            <a:pPr>
              <a:lnSpc>
                <a:spcPct val="200000"/>
              </a:lnSpc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[Win10] 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installation </a:t>
            </a:r>
            <a:endParaRPr lang="ko-KR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910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592" y="1541164"/>
            <a:ext cx="7886700" cy="481518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시스템의 모든 기록을 담고 있는 데이터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성능</a:t>
            </a:r>
            <a:r>
              <a:rPr lang="en-US" altLang="ko-KR" sz="1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오류</a:t>
            </a:r>
            <a:r>
              <a:rPr lang="en-US" altLang="ko-KR" sz="1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경고 및  운영정보 등의 중요 정보 기록</a:t>
            </a:r>
            <a:endParaRPr lang="en-US" altLang="ko-KR" sz="1800" b="1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특별한 형태의 기준에 따라 숫자와 기호 등으로 이뤄짐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로그를 분석하지 않고 그대로 활용하기는 어려움 </a:t>
            </a:r>
            <a:endParaRPr lang="en-US" altLang="ko-KR" sz="1800" b="1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8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웹서버의</a:t>
            </a: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경우 하루 수백 메가에서 기가 단위의 로그가 쌓임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대용량 로그를 일일이 살펴보기란 어려움</a:t>
            </a:r>
            <a:endParaRPr lang="ko-KR" altLang="en-US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C8F9-1B7B-4208-8946-3C69B0991E57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801703" y="619464"/>
            <a:ext cx="7886700" cy="6497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1) </a:t>
            </a:r>
            <a:r>
              <a:rPr lang="ko-KR" altLang="en-US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로그</a:t>
            </a:r>
            <a:r>
              <a:rPr lang="en-US" altLang="ko-KR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(Log)</a:t>
            </a:r>
            <a:endParaRPr lang="ko-KR" altLang="en-US" sz="28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359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5852" y="693546"/>
            <a:ext cx="7886700" cy="649758"/>
          </a:xfrm>
        </p:spPr>
        <p:txBody>
          <a:bodyPr>
            <a:normAutofit/>
          </a:bodyPr>
          <a:lstStyle/>
          <a:p>
            <a:r>
              <a:rPr lang="en-US" altLang="ko-KR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2) </a:t>
            </a:r>
            <a:r>
              <a:rPr lang="ko-KR" altLang="en-US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로그</a:t>
            </a:r>
            <a:r>
              <a:rPr lang="en-US" altLang="ko-KR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(Log)  </a:t>
            </a:r>
            <a:r>
              <a:rPr lang="ko-KR" altLang="en-US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데이터 중요성  </a:t>
            </a:r>
            <a:endParaRPr lang="ko-KR" altLang="en-US" sz="28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75497" y="1659393"/>
            <a:ext cx="7144415" cy="413180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ko-KR" altLang="en-US" sz="1800" b="1" dirty="0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시스템에서 발생하는 모든 문제에 대한 유일한 단서</a:t>
            </a:r>
            <a:endParaRPr lang="en-US" altLang="ko-KR" sz="1800" b="1" dirty="0" smtClean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시스템에서 발생한 오류 및 보안 결함 검색 가능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잠재적인 시스템 문제를 예측하는데 사용 될 수 있음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장애 발생 시 복구에 필요한 정보로 활용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침해 사고 시 근거 자료로 활용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각종 법규 및 지침에서 의무화 </a:t>
            </a:r>
            <a:endParaRPr lang="ko-KR" altLang="en-US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C8F9-1B7B-4208-8946-3C69B0991E57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4057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1050" y="293989"/>
            <a:ext cx="7886700" cy="649758"/>
          </a:xfrm>
        </p:spPr>
        <p:txBody>
          <a:bodyPr>
            <a:normAutofit/>
          </a:bodyPr>
          <a:lstStyle/>
          <a:p>
            <a:r>
              <a:rPr lang="en-US" altLang="ko-KR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3) </a:t>
            </a:r>
            <a:r>
              <a:rPr lang="ko-KR" altLang="en-US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로그 분석 </a:t>
            </a:r>
            <a:endParaRPr lang="ko-KR" altLang="en-US" sz="28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61732" y="943748"/>
            <a:ext cx="7886700" cy="53781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 데이터를 분석하여 필요로 하는 유용한 정보를 만드는 행위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대량의 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로그를 필요로 하는 정보로 만들어 내는 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행위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분석할 로그 종류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-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윈도우 및 리눅스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),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장비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보안장비 등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 데이터 분석을 통해 얻을 수 있는 정보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외부로부터 침입 감지 및 추적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 성능 관리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마케팅 전략으로 활용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시스템의 장애 원인 분석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 취약점 분석</a:t>
            </a:r>
            <a:endParaRPr lang="ko-KR" altLang="en-US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C8F9-1B7B-4208-8946-3C69B0991E57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9593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8297" y="526492"/>
            <a:ext cx="7886700" cy="649758"/>
          </a:xfrm>
        </p:spPr>
        <p:txBody>
          <a:bodyPr>
            <a:normAutofit/>
          </a:bodyPr>
          <a:lstStyle/>
          <a:p>
            <a:r>
              <a:rPr lang="en-US" altLang="ko-KR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4) </a:t>
            </a:r>
            <a:r>
              <a:rPr lang="ko-KR" altLang="en-US" sz="28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분석할 로그 종류  </a:t>
            </a:r>
            <a:endParaRPr lang="ko-KR" altLang="en-US" sz="28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28145" y="1577814"/>
            <a:ext cx="7886700" cy="43568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방화벽 로그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VPN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라우터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스위치로그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IPS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IDS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 로그 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이벤트 로그 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애플리케이션 로그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C8F9-1B7B-4208-8946-3C69B0991E57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오른쪽 대괄호 4"/>
          <p:cNvSpPr/>
          <p:nvPr/>
        </p:nvSpPr>
        <p:spPr>
          <a:xfrm>
            <a:off x="3845859" y="1792941"/>
            <a:ext cx="179294" cy="2312894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오른쪽 대괄호 5"/>
          <p:cNvSpPr/>
          <p:nvPr/>
        </p:nvSpPr>
        <p:spPr>
          <a:xfrm>
            <a:off x="3845859" y="4374776"/>
            <a:ext cx="179294" cy="1425390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230337" y="2749333"/>
            <a:ext cx="3337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Network/Security Device Log 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30337" y="4887416"/>
            <a:ext cx="3748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Server/Endpoint/Application Log 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82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70380" y="351733"/>
            <a:ext cx="7886700" cy="672352"/>
          </a:xfrm>
        </p:spPr>
        <p:txBody>
          <a:bodyPr>
            <a:normAutofit/>
          </a:bodyPr>
          <a:lstStyle/>
          <a:p>
            <a:r>
              <a:rPr lang="en-US" altLang="ko-KR" sz="24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5) </a:t>
            </a:r>
            <a:r>
              <a:rPr lang="ko-KR" altLang="en-US" sz="24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윈도우 로그 </a:t>
            </a:r>
            <a:endParaRPr lang="ko-KR" altLang="en-US" sz="24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17136" y="1170840"/>
            <a:ext cx="7886700" cy="4351338"/>
          </a:xfrm>
        </p:spPr>
        <p:txBody>
          <a:bodyPr>
            <a:normAutofit/>
          </a:bodyPr>
          <a:lstStyle/>
          <a:p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운영체제가 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업그레이드 됨에 따라 버전 별로 형태와 경로가 조금 </a:t>
            </a: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상이함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endParaRPr lang="ko-KR" altLang="en-US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163736"/>
              </p:ext>
            </p:extLst>
          </p:nvPr>
        </p:nvGraphicFramePr>
        <p:xfrm>
          <a:off x="453797" y="1967671"/>
          <a:ext cx="8413377" cy="35545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87336"/>
                <a:gridCol w="3146277"/>
                <a:gridCol w="3579764"/>
              </a:tblGrid>
              <a:tr h="574037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r>
                        <a:rPr lang="en-US" altLang="ko-KR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  <a:endParaRPr lang="ko-KR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Typ2</a:t>
                      </a:r>
                      <a:endParaRPr lang="ko-KR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960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</a:t>
                      </a:r>
                      <a:endParaRPr lang="ko-KR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</a:t>
                      </a:r>
                      <a:r>
                        <a:rPr lang="en-US" altLang="ko-KR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2000/XP/2003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</a:t>
                      </a:r>
                      <a:r>
                        <a:rPr lang="en-US" altLang="ko-KR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Vista /2008/7/10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960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로깅</a:t>
                      </a:r>
                      <a:r>
                        <a:rPr lang="ko-KR" altLang="en-US" sz="1600" b="1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b="1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데이타</a:t>
                      </a:r>
                      <a:endParaRPr lang="ko-KR" altLang="en-US" sz="1600" b="1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System, security,</a:t>
                      </a:r>
                      <a:r>
                        <a:rPr lang="en-US" altLang="ko-KR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Application </a:t>
                      </a:r>
                      <a:endParaRPr lang="ko-KR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System, security,</a:t>
                      </a:r>
                      <a:r>
                        <a:rPr lang="en-US" altLang="ko-KR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Application+ 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960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로그 저장형태</a:t>
                      </a:r>
                      <a:endParaRPr lang="ko-KR" altLang="en-US" sz="1600" b="1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Binary,</a:t>
                      </a:r>
                      <a:r>
                        <a:rPr lang="en-US" altLang="ko-KR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XML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960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로그</a:t>
                      </a:r>
                      <a:r>
                        <a:rPr lang="en-US" altLang="ko-KR" sz="1600" b="1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b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확장자명</a:t>
                      </a:r>
                      <a:endParaRPr lang="ko-KR" altLang="en-US" sz="1600" b="1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ko-KR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evt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ko-KR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evtx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960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저장경로</a:t>
                      </a:r>
                      <a:endParaRPr lang="ko-KR" altLang="en-US" sz="1600" b="1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\windows\system32\</a:t>
                      </a:r>
                      <a:r>
                        <a:rPr lang="en-US" altLang="ko-KR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\windows\system32\</a:t>
                      </a:r>
                      <a:r>
                        <a:rPr lang="en-US" altLang="ko-KR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winevt</a:t>
                      </a:r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\logs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4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7627" y="217208"/>
            <a:ext cx="7886700" cy="1325563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 </a:t>
            </a:r>
            <a:r>
              <a:rPr lang="ko-KR" altLang="en-US" sz="2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확인 방법 </a:t>
            </a:r>
            <a:r>
              <a:rPr lang="en-US" altLang="ko-KR" sz="2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</a:t>
            </a:r>
            <a:r>
              <a:rPr lang="ko-KR" altLang="en-US" sz="2800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가지 </a:t>
            </a:r>
            <a:endParaRPr lang="ko-KR" altLang="en-US" sz="28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7627" y="1345547"/>
            <a:ext cx="8609479" cy="43513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AutoNum type="arabicParenR"/>
            </a:pPr>
            <a:r>
              <a:rPr lang="ko-KR" altLang="en-US" sz="20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레지스트리를</a:t>
            </a:r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통한 </a:t>
            </a:r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확인</a:t>
            </a:r>
            <a:endParaRPr lang="en-US" altLang="ko-KR" sz="20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ko-KR" altLang="en-US" sz="2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HKEY_LOCAL_MACHINE &gt; SYSTEM &gt; 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                                Current </a:t>
            </a:r>
            <a:r>
              <a:rPr lang="en-US" altLang="ko-KR" sz="22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ControlSet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&gt; Services &gt; </a:t>
            </a:r>
            <a:r>
              <a:rPr lang="en-US" altLang="ko-KR" sz="22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EventLog</a:t>
            </a:r>
            <a:endParaRPr lang="en-US" altLang="ko-KR" sz="2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</a:t>
            </a:r>
          </a:p>
          <a:p>
            <a:pPr marL="0" indent="0">
              <a:buNone/>
            </a:pP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2)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이벤트 뷰어를 통한 확인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97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939893"/>
            <a:ext cx="8648700" cy="328248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54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02739" y="189981"/>
            <a:ext cx="790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 관리자 </a:t>
            </a:r>
            <a:r>
              <a:rPr lang="en-US" altLang="ko-KR" sz="24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  <a:r>
              <a:rPr lang="ko-KR" altLang="en-US" sz="2400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도구 </a:t>
            </a:r>
            <a:r>
              <a:rPr lang="en-US" altLang="ko-KR" sz="24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  <a:r>
              <a:rPr lang="ko-KR" altLang="en-US" sz="2400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이벤트 뷰어 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56" y="947251"/>
            <a:ext cx="3443119" cy="5683879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766482" y="2626379"/>
            <a:ext cx="2810436" cy="151531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66482" y="4141694"/>
            <a:ext cx="2810436" cy="1963271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209601" y="1848094"/>
            <a:ext cx="4382931" cy="27699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전역로그</a:t>
            </a:r>
            <a:endParaRPr lang="en-US" altLang="ko-KR" b="1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ko-KR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전체 </a:t>
            </a:r>
            <a:r>
              <a:rPr lang="ko-KR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시스템에 적용되는 이벤트를 저장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ko-KR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이전 </a:t>
            </a:r>
            <a:r>
              <a:rPr lang="ko-KR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버전의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Windows</a:t>
            </a:r>
            <a:r>
              <a:rPr lang="ko-KR" altLang="ko-KR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사용할 수 있는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ko-KR" altLang="ko-KR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응용 </a:t>
            </a:r>
            <a:r>
              <a:rPr lang="ko-KR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프로그램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ko-KR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보안 및 시스템 로그가 포함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‘</a:t>
            </a:r>
            <a:r>
              <a:rPr lang="ko-KR" altLang="ko-KR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설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’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과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‘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전달된이벤트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(Forwarded Events)‘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ko-KR" altLang="ko-KR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 포함</a:t>
            </a:r>
          </a:p>
          <a:p>
            <a:pPr>
              <a:lnSpc>
                <a:spcPct val="150000"/>
              </a:lnSpc>
            </a:pPr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209601" y="4618083"/>
            <a:ext cx="4572000" cy="148688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b="1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응용 프로그램 및 서비스 로그 </a:t>
            </a:r>
            <a:endParaRPr lang="en-US" altLang="ko-KR" b="1" kern="100" dirty="0" smtClean="0">
              <a:solidFill>
                <a:srgbClr val="000000"/>
              </a:solidFill>
              <a:latin typeface="맑은 고딕" panose="020B0503020000020004" pitchFamily="50" charset="-127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ko-KR" altLang="ko-KR" sz="1600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시스템 전체에 영향을 줄 수 있는 이벤트가 </a:t>
            </a:r>
            <a:endParaRPr lang="en-US" altLang="ko-KR" sz="1600" kern="100" dirty="0" smtClean="0">
              <a:solidFill>
                <a:srgbClr val="000000"/>
              </a:solidFill>
              <a:latin typeface="맑은 고딕" panose="020B0503020000020004" pitchFamily="50" charset="-127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600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   </a:t>
            </a:r>
            <a:r>
              <a:rPr lang="ko-KR" altLang="ko-KR" sz="1600" kern="100" smtClean="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아닌 단일 응용 프로그램이나 구성 요소의 </a:t>
            </a:r>
            <a:endParaRPr lang="en-US" altLang="ko-KR" sz="1600" kern="100" dirty="0" smtClean="0">
              <a:solidFill>
                <a:srgbClr val="000000"/>
              </a:solidFill>
              <a:latin typeface="맑은 고딕" panose="020B0503020000020004" pitchFamily="50" charset="-127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600" kern="100" dirty="0" smtClean="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   </a:t>
            </a:r>
            <a:r>
              <a:rPr lang="ko-KR" altLang="ko-KR" sz="1600" kern="100" smtClean="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이벤트 저장</a:t>
            </a:r>
            <a:endParaRPr lang="ko-KR" altLang="ko-KR" sz="16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23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61415" y="346448"/>
            <a:ext cx="8582585" cy="6148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ko-KR" sz="1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응용 프로그램 </a:t>
            </a:r>
            <a:endParaRPr lang="en-US" altLang="ko-KR" sz="1800" b="1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174625" indent="0"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ko-KR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윈도우 번들 </a:t>
            </a:r>
            <a:r>
              <a:rPr lang="ko-KR" altLang="ko-KR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소프트웨어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와 </a:t>
            </a:r>
            <a:r>
              <a:rPr lang="ko-KR" altLang="ko-KR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일반 </a:t>
            </a:r>
            <a:r>
              <a:rPr lang="ko-KR" altLang="ko-KR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응용프로그램의 활성화 </a:t>
            </a:r>
            <a:r>
              <a:rPr lang="ko-KR" altLang="ko-KR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여부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</a:t>
            </a:r>
            <a:r>
              <a:rPr lang="ko-KR" altLang="ko-KR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록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174625" indent="0">
              <a:buNone/>
            </a:pP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ko-KR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기록되는 이벤트는 해당 제품의 개발자에 의해 결정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ko-KR" altLang="ko-KR" sz="18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ko-KR" altLang="ko-KR" sz="1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보안</a:t>
            </a:r>
            <a:r>
              <a:rPr lang="ko-KR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174625" indent="0">
              <a:buNone/>
              <a:tabLst>
                <a:tab pos="93663" algn="l"/>
              </a:tabLst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ko-KR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유효하거나 유효하지 않은 로그인 </a:t>
            </a:r>
            <a:r>
              <a:rPr lang="ko-KR" altLang="ko-KR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시도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파일 생성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열람 삭제 등의</a:t>
            </a:r>
            <a:r>
              <a:rPr lang="ko-KR" altLang="ko-KR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ko-KR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이벤트 기록</a:t>
            </a:r>
          </a:p>
          <a:p>
            <a:pPr marL="174625" indent="0">
              <a:buNone/>
              <a:tabLst>
                <a:tab pos="93663" algn="l"/>
              </a:tabLst>
            </a:pP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ko-KR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감사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정책 </a:t>
            </a:r>
            <a:r>
              <a:rPr lang="ko-KR" altLang="ko-KR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설정을 </a:t>
            </a:r>
            <a:r>
              <a:rPr lang="ko-KR" altLang="ko-KR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통해 다양한 보안 이벤트 저장이 </a:t>
            </a:r>
            <a:r>
              <a:rPr lang="ko-KR" altLang="ko-KR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가능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ko-KR" altLang="en-US" sz="1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설정</a:t>
            </a: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174625" indent="0"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ko-KR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어플리케이션 설치 시 발생하는 이벤트 기록</a:t>
            </a:r>
          </a:p>
          <a:p>
            <a:pPr marL="174625" indent="0"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ko-KR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프로그램이 잘 설치되었는지 호환성 문제는 없는지 확인 가능</a:t>
            </a:r>
          </a:p>
          <a:p>
            <a:pPr marL="0" indent="0">
              <a:buNone/>
            </a:pPr>
            <a:endParaRPr lang="en-US" altLang="ko-KR" sz="3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ko-KR" altLang="en-US" sz="1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</a:t>
            </a: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1800" dirty="0" smtClean="0"/>
              <a:t>     -  </a:t>
            </a:r>
            <a:r>
              <a:rPr lang="ko-KR" altLang="ko-KR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윈도우 </a:t>
            </a:r>
            <a:r>
              <a:rPr lang="ko-KR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시스템에서 기록하는 로그 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ko-KR" altLang="ko-KR" sz="1800" b="1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서비스 실행 여부나 파일 시스템 필터</a:t>
            </a:r>
            <a:r>
              <a:rPr lang="en-US" altLang="ko-KR" sz="1800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ko-KR" sz="1800" b="1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디바이스 구성요소가 </a:t>
            </a:r>
            <a:r>
              <a:rPr lang="ko-KR" altLang="ko-KR" sz="1800" b="1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기록</a:t>
            </a:r>
            <a:endParaRPr lang="en-US" altLang="ko-KR" sz="1800" b="1" dirty="0" smtClean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endParaRPr lang="en-US" altLang="ko-KR" sz="3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ko-KR" altLang="ko-KR" sz="1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전달된 </a:t>
            </a:r>
            <a:r>
              <a:rPr lang="ko-KR" altLang="ko-KR" sz="1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이벤트 </a:t>
            </a:r>
            <a:r>
              <a:rPr lang="en-US" altLang="ko-KR" sz="1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forwarded </a:t>
            </a:r>
            <a:r>
              <a:rPr lang="en-US" altLang="ko-KR" sz="1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events)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ko-KR" altLang="ko-KR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원격 </a:t>
            </a:r>
            <a:r>
              <a:rPr lang="ko-KR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컴퓨터에서 수집된 이벤트를 저장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ko-KR" altLang="ko-KR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구독을 </a:t>
            </a:r>
            <a:r>
              <a:rPr lang="ko-KR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사용하고 있다면 전달된 이벤트 로그에 기록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53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55366" y="2310109"/>
            <a:ext cx="4889581" cy="4095470"/>
            <a:chOff x="161236" y="2389060"/>
            <a:chExt cx="4889581" cy="4095470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236" y="2389060"/>
              <a:ext cx="4889581" cy="4095470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5" name="직사각형 4"/>
            <p:cNvSpPr/>
            <p:nvPr/>
          </p:nvSpPr>
          <p:spPr>
            <a:xfrm>
              <a:off x="1103932" y="5005352"/>
              <a:ext cx="3496234" cy="198660"/>
            </a:xfrm>
            <a:prstGeom prst="rect">
              <a:avLst/>
            </a:prstGeom>
            <a:noFill/>
            <a:ln w="222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5324001" y="2822829"/>
          <a:ext cx="3558989" cy="3473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/>
                <a:gridCol w="2568389"/>
              </a:tblGrid>
              <a:tr h="4823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이벤트</a:t>
                      </a:r>
                      <a:r>
                        <a:rPr lang="en-US" altLang="ko-KR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ID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설명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823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4726</a:t>
                      </a:r>
                      <a:endParaRPr lang="ko-KR" altLang="en-US" sz="160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계정 삭제 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3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4624</a:t>
                      </a:r>
                      <a:endParaRPr lang="ko-KR" altLang="en-US" sz="160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로그인 성공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3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4625</a:t>
                      </a:r>
                      <a:endParaRPr lang="ko-KR" altLang="en-US" sz="160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로그인 실패 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3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5142</a:t>
                      </a:r>
                      <a:endParaRPr lang="ko-KR" altLang="en-US" sz="160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네트워크 공유 개체가 추가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3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5632</a:t>
                      </a:r>
                      <a:endParaRPr lang="ko-KR" altLang="en-US" sz="160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무선네트워크에 인증을</a:t>
                      </a:r>
                      <a:endParaRPr lang="en-US" altLang="ko-KR" sz="1600" dirty="0" smtClean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latinLnBrk="1"/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요청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3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4689</a:t>
                      </a:r>
                      <a:endParaRPr lang="ko-KR" altLang="en-US" sz="160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프로세스를 끝냄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0989" y="322254"/>
            <a:ext cx="50786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이벤트 </a:t>
            </a:r>
            <a:r>
              <a:rPr lang="en-US" altLang="ko-KR" sz="24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</a:p>
          <a:p>
            <a:pPr marL="285750" indent="-111125">
              <a:lnSpc>
                <a:spcPct val="150000"/>
              </a:lnSpc>
              <a:buFontTx/>
              <a:buChar char="-"/>
            </a:pP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로그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유형에 따라 이벤트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부여 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285750" indent="-111125">
              <a:lnSpc>
                <a:spcPct val="150000"/>
              </a:lnSpc>
              <a:buFontTx/>
              <a:buChar char="-"/>
            </a:pP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필요한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데이터를 따로 추출해 로그 분석 가능 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47789" y="1755406"/>
            <a:ext cx="889221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-US" altLang="ko-KR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docs.microsoft.com/en-us/windows-server/identity/ad-ds/plan/appendix-l-</a:t>
            </a:r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-events-to-monitor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5119" y="6405579"/>
            <a:ext cx="4429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작업</a:t>
            </a:r>
            <a:r>
              <a:rPr lang="en-US" altLang="ko-KR" sz="1600" b="1" dirty="0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  <a:r>
              <a:rPr lang="ko-KR" altLang="en-US" sz="1600" b="1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관리이벤트</a:t>
            </a:r>
            <a:r>
              <a:rPr lang="en-US" altLang="ko-KR" sz="1600" b="1" dirty="0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  <a:r>
              <a:rPr lang="ko-KR" altLang="en-US" sz="1600" b="1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현재사용자지정 보기 만들기</a:t>
            </a:r>
            <a:endParaRPr lang="ko-KR" altLang="en-US" sz="1600" b="1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2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6124" y="217675"/>
            <a:ext cx="7886700" cy="818215"/>
          </a:xfrm>
        </p:spPr>
        <p:txBody>
          <a:bodyPr>
            <a:normAutofit/>
          </a:bodyPr>
          <a:lstStyle/>
          <a:p>
            <a:r>
              <a:rPr lang="ko-KR" altLang="en-US" sz="2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 로그 </a:t>
            </a:r>
            <a:endParaRPr lang="ko-KR" altLang="en-US" sz="28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183341"/>
            <a:ext cx="7886700" cy="4351338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윈도우 시스템 파일</a:t>
            </a:r>
            <a:r>
              <a:rPr lang="en-US" altLang="ko-KR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sz="20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 구성파일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20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들의 </a:t>
            </a:r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운영 </a:t>
            </a:r>
            <a:r>
              <a:rPr lang="ko-KR" altLang="en-US" sz="20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상태를 기록</a:t>
            </a:r>
            <a:endParaRPr lang="ko-KR" altLang="en-US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706654"/>
            <a:ext cx="4280647" cy="49633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90678" y="2147902"/>
            <a:ext cx="376506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제어판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 및보안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고급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 설정 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고급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시작 및 복구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15674" y="4087906"/>
            <a:ext cx="2177150" cy="282388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56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33" y="1203847"/>
            <a:ext cx="5163537" cy="47765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429633" y="95851"/>
            <a:ext cx="79066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Windows </a:t>
            </a:r>
            <a:r>
              <a:rPr lang="ko-KR" altLang="en-US" sz="2400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 </a:t>
            </a:r>
            <a:r>
              <a:rPr lang="en-US" altLang="ko-KR" sz="24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  <a:r>
              <a:rPr lang="ko-KR" altLang="en-US" sz="2400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 </a:t>
            </a:r>
            <a:r>
              <a:rPr lang="en-US" altLang="ko-KR" sz="24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0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2000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작업 </a:t>
            </a:r>
            <a:r>
              <a:rPr lang="en-US" altLang="ko-KR" sz="20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  <a:r>
              <a:rPr lang="ko-KR" altLang="en-US" sz="2000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현재 로그 필터링 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333" y="1739432"/>
            <a:ext cx="3067050" cy="319087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971686" y="5193782"/>
            <a:ext cx="6010949" cy="13221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ko-KR" sz="1400" b="1" kern="1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오류</a:t>
            </a:r>
            <a:r>
              <a:rPr lang="en-US" altLang="ko-KR" sz="1400" b="1" kern="1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  <a:r>
              <a:rPr lang="en-US" altLang="ko-KR" sz="1400" kern="1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ko-KR" sz="1400" kern="1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이벤트를 트리거한 응용 프로그램 또는 구성 요소 외부에 있는 </a:t>
            </a:r>
            <a:r>
              <a:rPr lang="ko-KR" altLang="ko-KR" sz="1400" u="sng" kern="1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기능에 </a:t>
            </a:r>
            <a:endParaRPr lang="en-US" altLang="ko-KR" sz="1400" u="sng" kern="1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kern="1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400" kern="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</a:t>
            </a:r>
            <a:r>
              <a:rPr lang="ko-KR" altLang="ko-KR" sz="1400" u="sng" kern="1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영향을 </a:t>
            </a:r>
            <a:r>
              <a:rPr lang="ko-KR" altLang="ko-KR" sz="1400" u="sng" kern="1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줄 수 있는 문제가 </a:t>
            </a:r>
            <a:r>
              <a:rPr lang="ko-KR" altLang="ko-KR" sz="1400" u="sng" kern="1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발생했음</a:t>
            </a:r>
            <a:r>
              <a:rPr lang="ko-KR" altLang="en-US" sz="1400" kern="1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나타냄 </a:t>
            </a:r>
            <a:r>
              <a:rPr lang="en-US" altLang="ko-KR" sz="1400" kern="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ko-KR" altLang="ko-KR" sz="1400" kern="1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ko-KR" sz="1400" b="1" kern="1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위험</a:t>
            </a:r>
            <a:r>
              <a:rPr lang="en-US" altLang="ko-KR" sz="1400" b="1" kern="1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  <a:r>
              <a:rPr lang="en-US" altLang="ko-KR" sz="1400" kern="1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ko-KR" sz="1400" kern="1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이벤트를 트리거한 응용 프로그램 또는 구성 </a:t>
            </a:r>
            <a:r>
              <a:rPr lang="ko-KR" altLang="ko-KR" sz="1400" u="sng" kern="1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요소가 자동으로 복구할 </a:t>
            </a:r>
            <a:endParaRPr lang="en-US" altLang="ko-KR" sz="1400" u="sng" kern="1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kern="1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400" kern="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</a:t>
            </a:r>
            <a:r>
              <a:rPr lang="ko-KR" altLang="ko-KR" sz="1400" u="sng" kern="1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 </a:t>
            </a:r>
            <a:r>
              <a:rPr lang="ko-KR" altLang="ko-KR" sz="1400" u="sng" kern="1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없는 오류</a:t>
            </a:r>
            <a:r>
              <a:rPr lang="ko-KR" altLang="ko-KR" sz="1400" kern="1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발생했음을 </a:t>
            </a:r>
            <a:r>
              <a:rPr lang="ko-KR" altLang="ko-KR" sz="1400" kern="1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나타</a:t>
            </a:r>
            <a:r>
              <a:rPr lang="ko-KR" altLang="en-US" sz="1400" kern="1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냄</a:t>
            </a:r>
            <a:endParaRPr lang="ko-KR" altLang="ko-KR" sz="1400" kern="1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181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33" y="1588713"/>
            <a:ext cx="5210175" cy="481012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29633" y="311004"/>
            <a:ext cx="79066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Windows </a:t>
            </a:r>
            <a:r>
              <a:rPr lang="ko-KR" altLang="en-US" sz="2400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 </a:t>
            </a:r>
            <a:r>
              <a:rPr lang="en-US" altLang="ko-KR" sz="24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  <a:r>
              <a:rPr lang="ko-KR" altLang="en-US" sz="2400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 </a:t>
            </a:r>
            <a:r>
              <a:rPr lang="en-US" altLang="ko-KR" sz="24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0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2000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작업 </a:t>
            </a:r>
            <a:r>
              <a:rPr lang="en-US" altLang="ko-KR" sz="20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 </a:t>
            </a:r>
            <a:r>
              <a:rPr lang="ko-KR" altLang="en-US" sz="2000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현재 로그 필터링 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836024" y="1868705"/>
            <a:ext cx="2877671" cy="12840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이벤트 ID 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-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6005 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 시작 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6006 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 종료</a:t>
            </a: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836024" y="3840411"/>
            <a:ext cx="3160058" cy="12003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 로그의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'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날짜및 시간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'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통해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컴퓨터가 부팅시간과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종료시간을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확인 가능 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438833" y="4306105"/>
            <a:ext cx="3765177" cy="268942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137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939337"/>
              </p:ext>
            </p:extLst>
          </p:nvPr>
        </p:nvGraphicFramePr>
        <p:xfrm>
          <a:off x="958937" y="1829288"/>
          <a:ext cx="7236795" cy="434573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23702"/>
                <a:gridCol w="5813093"/>
              </a:tblGrid>
              <a:tr h="101273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800" kern="100" dirty="0"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인증로그 </a:t>
                      </a:r>
                    </a:p>
                  </a:txBody>
                  <a:tcPr marL="61000" marR="61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인증 </a:t>
                      </a:r>
                      <a:r>
                        <a:rPr lang="ko-KR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시스템</a:t>
                      </a:r>
                      <a:r>
                        <a:rPr lang="en-US" altLang="ko-KR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(PAM </a:t>
                      </a:r>
                      <a:r>
                        <a:rPr lang="ko-KR" altLang="en-US" sz="1800" kern="10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등</a:t>
                      </a:r>
                      <a:r>
                        <a:rPr lang="en-US" altLang="ko-KR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800" kern="10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이 </a:t>
                      </a:r>
                      <a:r>
                        <a:rPr lang="ko-KR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발생시키는 로그 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var</a:t>
                      </a:r>
                      <a:r>
                        <a:rPr lang="en-US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/log/secure</a:t>
                      </a:r>
                      <a:endParaRPr lang="ko-KR" sz="1800" kern="10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441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800" kern="100" dirty="0" err="1"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데몬로그</a:t>
                      </a:r>
                      <a:r>
                        <a:rPr lang="ko-KR" sz="1800" kern="100" dirty="0"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</a:p>
                  </a:txBody>
                  <a:tcPr marL="61000" marR="61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백그라운드 프로그램의 로그 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var</a:t>
                      </a:r>
                      <a:r>
                        <a:rPr lang="en-US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/log/damon.log</a:t>
                      </a:r>
                      <a:endParaRPr lang="ko-KR" sz="1800" kern="10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1282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800" kern="100" dirty="0" err="1"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커널</a:t>
                      </a:r>
                      <a:r>
                        <a:rPr lang="ko-KR" sz="1800" kern="100" dirty="0"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로그 </a:t>
                      </a:r>
                    </a:p>
                  </a:txBody>
                  <a:tcPr marL="61000" marR="61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800" kern="100" dirty="0" err="1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커널에서</a:t>
                      </a:r>
                      <a:r>
                        <a:rPr lang="ko-KR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발생시킨 로그 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var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/log/kern </a:t>
                      </a:r>
                      <a:r>
                        <a:rPr lang="ko-KR" sz="1800" kern="10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과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var</a:t>
                      </a:r>
                      <a:r>
                        <a:rPr lang="en-US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/log/</a:t>
                      </a:r>
                      <a:r>
                        <a:rPr lang="en-US" sz="18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dmesg</a:t>
                      </a:r>
                      <a:endParaRPr lang="ko-KR" sz="1800" kern="10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730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800" kern="100" dirty="0"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시스템 로그 </a:t>
                      </a:r>
                    </a:p>
                  </a:txBody>
                  <a:tcPr marL="61000" marR="61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시스템에서 발생하는 대부분의 로</a:t>
                      </a:r>
                      <a:r>
                        <a:rPr lang="ko-KR" altLang="en-US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그</a:t>
                      </a:r>
                      <a:r>
                        <a:rPr lang="ko-KR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기록 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var</a:t>
                      </a:r>
                      <a:r>
                        <a:rPr lang="en-US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/log/messages</a:t>
                      </a:r>
                      <a:endParaRPr lang="ko-KR" sz="1800" kern="10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930123" y="1132023"/>
            <a:ext cx="4572000" cy="4541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altLang="ko-KR" sz="2400" kern="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ko-KR" altLang="ko-KR" sz="2400" kern="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</a:t>
            </a:r>
            <a:r>
              <a:rPr lang="en-US" altLang="ko-KR" sz="2400" kern="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ko-KR" sz="2400" kern="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 </a:t>
            </a:r>
            <a:endParaRPr lang="ko-KR" altLang="ko-KR" sz="2400" kern="1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608727" y="190459"/>
            <a:ext cx="7886700" cy="777874"/>
          </a:xfrm>
        </p:spPr>
        <p:txBody>
          <a:bodyPr>
            <a:normAutofit/>
          </a:bodyPr>
          <a:lstStyle/>
          <a:p>
            <a:r>
              <a:rPr lang="en-US" altLang="ko-KR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6) </a:t>
            </a:r>
            <a:r>
              <a:rPr lang="ko-KR" altLang="en-US" sz="28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리눅스</a:t>
            </a:r>
            <a:r>
              <a:rPr lang="ko-KR" altLang="en-US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로그   </a:t>
            </a:r>
            <a:endParaRPr lang="ko-KR" altLang="en-US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351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818726" y="1192303"/>
          <a:ext cx="7742568" cy="52029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25351"/>
                <a:gridCol w="5917217"/>
              </a:tblGrid>
              <a:tr h="92406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/run/</a:t>
                      </a: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utmp</a:t>
                      </a:r>
                      <a:endParaRPr lang="ko-KR" sz="2000" kern="10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7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사용자의 현재 로그인 정보를 기록 </a:t>
                      </a:r>
                      <a:endParaRPr lang="en-US" altLang="ko-KR" sz="1700" kern="100" dirty="0" smtClean="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로그 확인 </a:t>
                      </a:r>
                      <a:r>
                        <a:rPr lang="ko-KR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명령어 </a:t>
                      </a:r>
                      <a:r>
                        <a:rPr lang="en-US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who</a:t>
                      </a:r>
                      <a:r>
                        <a:rPr lang="en-US" sz="1700" kern="100" baseline="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, w, user, finger</a:t>
                      </a:r>
                      <a:endParaRPr lang="ko-KR" sz="1700" kern="100" dirty="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/>
                </a:tc>
              </a:tr>
              <a:tr h="92406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/log/</a:t>
                      </a: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wtmp</a:t>
                      </a:r>
                      <a:endParaRPr lang="ko-KR" sz="2000" kern="10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성공한 </a:t>
                      </a:r>
                      <a:r>
                        <a:rPr lang="ko-KR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로그인과 로그아웃</a:t>
                      </a:r>
                      <a:r>
                        <a:rPr lang="en-US" altLang="ko-KR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ko-KR" sz="1700" kern="100" baseline="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700" kern="100" baseline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시스템 재부팅 정보 </a:t>
                      </a:r>
                      <a:endParaRPr lang="en-US" altLang="ko-KR" sz="1700" kern="100" baseline="0" dirty="0" smtClean="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로그 확인 </a:t>
                      </a:r>
                      <a:r>
                        <a:rPr lang="ko-KR" altLang="ko-KR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명령어 </a:t>
                      </a:r>
                      <a:r>
                        <a:rPr lang="en-US" altLang="ko-KR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last</a:t>
                      </a:r>
                      <a:endParaRPr lang="ko-KR" sz="1700" kern="10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/>
                </a:tc>
              </a:tr>
              <a:tr h="876268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/log/</a:t>
                      </a: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btmp</a:t>
                      </a:r>
                      <a:endParaRPr lang="ko-KR" sz="2000" kern="10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7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사용자의 로그인 실패를 기록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로그 확인 </a:t>
                      </a:r>
                      <a:r>
                        <a:rPr lang="ko-KR" altLang="ko-KR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명령어</a:t>
                      </a:r>
                      <a:r>
                        <a:rPr lang="en-US" altLang="ko-KR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en-US" altLang="ko-KR" sz="17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lastb</a:t>
                      </a:r>
                      <a:endParaRPr lang="ko-KR" sz="1700" kern="100" dirty="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/>
                </a:tc>
              </a:tr>
              <a:tr h="92406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/log/</a:t>
                      </a: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lastlog</a:t>
                      </a:r>
                      <a:endParaRPr lang="ko-KR" sz="2000" kern="10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7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가장 최근 로그인 정보를 기록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로그 확인 </a:t>
                      </a:r>
                      <a:r>
                        <a:rPr lang="ko-KR" altLang="ko-KR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명령어</a:t>
                      </a:r>
                      <a:r>
                        <a:rPr lang="en-US" altLang="ko-KR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:</a:t>
                      </a:r>
                      <a:r>
                        <a:rPr lang="ko-KR" sz="1700" kern="10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7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lastlog</a:t>
                      </a:r>
                      <a:endParaRPr lang="ko-KR" sz="1700" kern="10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/>
                </a:tc>
              </a:tr>
              <a:tr h="1300062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20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ko-KR" sz="20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usr</a:t>
                      </a:r>
                      <a:r>
                        <a:rPr lang="en-US" altLang="ko-KR" sz="20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ko-KR" sz="20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adm</a:t>
                      </a:r>
                      <a:r>
                        <a:rPr lang="en-US" altLang="ko-KR" sz="20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ko-KR" sz="20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pacct</a:t>
                      </a:r>
                      <a:endParaRPr lang="ko-KR" sz="2000" kern="10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시스템에 로그인한 사용자가 수행한 프로그램 정보 기록</a:t>
                      </a:r>
                      <a:endParaRPr lang="en-US" altLang="ko-KR" sz="1700" kern="100" dirty="0" smtClean="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7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로그인해서 로그오프</a:t>
                      </a:r>
                      <a:r>
                        <a:rPr lang="ko-KR" altLang="en-US" sz="1700" kern="100" baseline="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할 때까지 입력 </a:t>
                      </a:r>
                      <a:r>
                        <a:rPr lang="ko-KR" altLang="en-US" sz="1700" kern="100" baseline="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정보등을</a:t>
                      </a:r>
                      <a:r>
                        <a:rPr lang="ko-KR" altLang="en-US" sz="1700" kern="100" baseline="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기록</a:t>
                      </a:r>
                      <a:endParaRPr lang="en-US" altLang="ko-KR" sz="1700" kern="100" baseline="0" dirty="0" smtClean="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700" kern="100" baseline="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시스템</a:t>
                      </a:r>
                      <a:r>
                        <a:rPr lang="en-US" altLang="ko-KR" sz="1700" kern="100" baseline="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700" kern="100" baseline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자원을 많이 소모하므로 기본적으로 동작 안함 </a:t>
                      </a:r>
                      <a:endParaRPr lang="en-US" altLang="ko-KR" sz="1700" kern="100" baseline="0" dirty="0" smtClean="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700" kern="100" baseline="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로그 확인 명령어 </a:t>
                      </a:r>
                      <a:r>
                        <a:rPr lang="en-US" altLang="ko-KR" sz="1700" kern="100" baseline="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altLang="ko-KR" sz="1700" kern="100" baseline="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acctcom</a:t>
                      </a:r>
                      <a:r>
                        <a:rPr lang="en-US" altLang="ko-KR" sz="1700" kern="100" baseline="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ko-KR" sz="1700" kern="100" baseline="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lastcomm</a:t>
                      </a:r>
                      <a:endParaRPr lang="ko-KR" sz="1700" kern="100" dirty="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/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704850" y="484093"/>
            <a:ext cx="4572000" cy="48750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altLang="ko-KR" sz="2400" kern="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ko-KR" altLang="en-US" sz="2400" kern="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바이너리 로그 </a:t>
            </a:r>
            <a:endParaRPr lang="ko-KR" altLang="ko-KR" sz="2400" kern="1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74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803811" y="1371598"/>
          <a:ext cx="7626026" cy="3841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03531"/>
                <a:gridCol w="5722495"/>
              </a:tblGrid>
              <a:tr h="92336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Apache </a:t>
                      </a:r>
                      <a:r>
                        <a:rPr lang="ko-KR" sz="1800" kern="10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웹 서버 </a:t>
                      </a:r>
                    </a:p>
                  </a:txBody>
                  <a:tcPr marL="61000" marR="6100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아파치 웹 서버가 발생시킨 로그 </a:t>
                      </a:r>
                      <a:endParaRPr lang="en-US" altLang="ko-KR" sz="1800" kern="100" dirty="0" smtClean="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var</a:t>
                      </a:r>
                      <a:r>
                        <a:rPr lang="en-US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/log/</a:t>
                      </a:r>
                      <a:r>
                        <a:rPr lang="en-US" sz="18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httpd</a:t>
                      </a:r>
                      <a:endParaRPr lang="ko-KR" sz="1800" kern="10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/>
                </a:tc>
              </a:tr>
              <a:tr h="92336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Samba </a:t>
                      </a:r>
                      <a:r>
                        <a:rPr lang="ko-KR" sz="1800" kern="10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서버</a:t>
                      </a:r>
                    </a:p>
                  </a:txBody>
                  <a:tcPr marL="61000" marR="6100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삼바 서버가 발생시킨 </a:t>
                      </a:r>
                      <a:r>
                        <a:rPr lang="ko-KR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로그</a:t>
                      </a:r>
                      <a:endParaRPr lang="en-US" altLang="ko-KR" sz="1800" kern="100" dirty="0" smtClean="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var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/log/samba</a:t>
                      </a:r>
                      <a:r>
                        <a:rPr lang="ko-KR" sz="1800" kern="10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에 기록 </a:t>
                      </a:r>
                    </a:p>
                  </a:txBody>
                  <a:tcPr marL="61000" marR="61000" marT="0" marB="0" anchor="ctr"/>
                </a:tc>
              </a:tr>
              <a:tr h="107128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SMTP </a:t>
                      </a:r>
                      <a:r>
                        <a:rPr lang="ko-KR" sz="1800" kern="10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서버 </a:t>
                      </a:r>
                    </a:p>
                  </a:txBody>
                  <a:tcPr marL="61000" marR="6100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Sendmail</a:t>
                      </a:r>
                      <a:r>
                        <a:rPr lang="ko-KR" sz="1800" kern="10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이나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Postfix </a:t>
                      </a:r>
                      <a:r>
                        <a:rPr lang="ko-KR" sz="1800" kern="10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같은 메일 서버가 발생시킴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var</a:t>
                      </a:r>
                      <a:r>
                        <a:rPr lang="en-US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/log/</a:t>
                      </a:r>
                      <a:r>
                        <a:rPr lang="en-US" sz="18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maillog</a:t>
                      </a:r>
                      <a:endParaRPr lang="ko-KR" sz="1800" kern="10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/>
                </a:tc>
              </a:tr>
              <a:tr h="923365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FTP </a:t>
                      </a:r>
                      <a:r>
                        <a:rPr lang="ko-KR" sz="1800" kern="10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서버 </a:t>
                      </a:r>
                    </a:p>
                  </a:txBody>
                  <a:tcPr marL="61000" marR="6100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VSFTP</a:t>
                      </a:r>
                      <a:r>
                        <a:rPr lang="ko-KR" sz="1800" kern="10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나 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Proftp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800" kern="10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서버가 발생시킨 </a:t>
                      </a:r>
                      <a:r>
                        <a:rPr lang="ko-KR" sz="1800" kern="10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로그</a:t>
                      </a:r>
                      <a:endParaRPr lang="en-US" altLang="ko-KR" sz="1800" kern="100" dirty="0" smtClean="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var</a:t>
                      </a:r>
                      <a:r>
                        <a:rPr lang="en-US" sz="1800" kern="100" dirty="0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/log/</a:t>
                      </a:r>
                      <a:r>
                        <a:rPr lang="en-US" sz="1800" kern="100" dirty="0" err="1" smtClean="0">
                          <a:effectLst/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xferlog</a:t>
                      </a:r>
                      <a:endParaRPr lang="ko-KR" sz="1800" kern="100"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1000" marR="61000" marT="0" marB="0" anchor="ctr"/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664509" y="619099"/>
            <a:ext cx="4572000" cy="48750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altLang="ko-KR" sz="2400" kern="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</a:t>
            </a:r>
            <a:r>
              <a:rPr lang="ko-KR" altLang="en-US" sz="2400" kern="1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애플리케이션 로그 </a:t>
            </a:r>
            <a:endParaRPr lang="ko-KR" altLang="ko-KR" sz="2400" kern="1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754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61566" y="810289"/>
            <a:ext cx="8407774" cy="50996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 데몬 프로세스인</a:t>
            </a:r>
            <a:r>
              <a:rPr lang="ko-KR" altLang="en-US" sz="1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8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syslogd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운영체제에 의해 자동으로 시작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데몬 프로세스 시작 시 환경 설정 파일</a:t>
            </a:r>
            <a:r>
              <a:rPr lang="ko-KR" altLang="en-US" sz="1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18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etc</a:t>
            </a:r>
            <a:r>
              <a:rPr lang="en-US" altLang="ko-KR" sz="1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18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syslog.conf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읽어옴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18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etc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18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syslog.conf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</a:t>
            </a: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따라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로그를 어디에 </a:t>
            </a: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기록할지를 </a:t>
            </a:r>
            <a:r>
              <a:rPr lang="ko-KR" altLang="en-US" sz="1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결정 </a:t>
            </a:r>
            <a:endParaRPr lang="en-US" altLang="ko-KR" sz="18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</a:t>
            </a:r>
            <a:r>
              <a:rPr lang="en-US" altLang="ko-KR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authpriv.*                            /</a:t>
            </a:r>
            <a:r>
              <a:rPr lang="en-US" altLang="ko-KR" sz="1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var</a:t>
            </a:r>
            <a:r>
              <a:rPr lang="en-US" altLang="ko-KR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/log/secure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 </a:t>
            </a:r>
            <a:r>
              <a:rPr lang="en-US" altLang="ko-KR" sz="16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authprive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관련 서비스 데몬에서 발생하는 이벤트들은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                /</a:t>
            </a:r>
            <a:r>
              <a:rPr lang="en-US" altLang="ko-KR" sz="16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var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/log/secure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로그 파일에 기록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5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</a:t>
            </a:r>
            <a:r>
              <a:rPr lang="en-US" altLang="ko-KR" sz="1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           </a:t>
            </a:r>
            <a:r>
              <a:rPr lang="en-US" altLang="ko-KR" sz="1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  <a:sym typeface="Wingdings" panose="05000000000000000000" pitchFamily="2" charset="2"/>
              </a:rPr>
              <a:t>lpr.error</a:t>
            </a:r>
            <a:r>
              <a:rPr lang="en-US" altLang="ko-KR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  <a:sym typeface="Wingdings" panose="05000000000000000000" pitchFamily="2" charset="2"/>
              </a:rPr>
              <a:t>; </a:t>
            </a:r>
            <a:r>
              <a:rPr lang="en-US" altLang="ko-KR" sz="1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  <a:sym typeface="Wingdings" panose="05000000000000000000" pitchFamily="2" charset="2"/>
              </a:rPr>
              <a:t>console.error</a:t>
            </a:r>
            <a:r>
              <a:rPr lang="en-US" altLang="ko-KR" sz="1800" b="1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ko-KR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  <a:sym typeface="Wingdings" panose="05000000000000000000" pitchFamily="2" charset="2"/>
              </a:rPr>
              <a:t>       /</a:t>
            </a:r>
            <a:r>
              <a:rPr lang="en-US" altLang="ko-KR" sz="1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  <a:sym typeface="Wingdings" panose="05000000000000000000" pitchFamily="2" charset="2"/>
              </a:rPr>
              <a:t>var</a:t>
            </a:r>
            <a:r>
              <a:rPr lang="en-US" altLang="ko-KR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  <a:sym typeface="Wingdings" panose="05000000000000000000" pitchFamily="2" charset="2"/>
              </a:rPr>
              <a:t>/log/messages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     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      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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프린트나 콘솔에서 발생하는 오류 메세지들은 </a:t>
            </a:r>
            <a:endParaRPr lang="en-US" altLang="ko-KR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                     /</a:t>
            </a:r>
            <a:r>
              <a:rPr lang="en-US" altLang="ko-KR" sz="16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var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/log/messages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로그 파일에 기록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295234" y="2494348"/>
            <a:ext cx="6306671" cy="2796988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01162" y="5546829"/>
            <a:ext cx="74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지정된 로그는 지정된 로그파일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콘솔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원격 로그 서버 또는 특정 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사용자에게 로그 기록을 전달 </a:t>
            </a: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21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66" y="1299654"/>
            <a:ext cx="8219224" cy="828297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31788" indent="-1524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ko-KR" altLang="en-US" sz="1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로그를 중앙 집중적으로 관리하는 패키지</a:t>
            </a:r>
            <a:endParaRPr lang="en-US" altLang="ko-KR" sz="18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1788" indent="-1524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ko-KR" sz="1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800" b="0">
                <a:latin typeface="Times New Roman" panose="02020603050405020304" pitchFamily="18" charset="0"/>
                <a:cs typeface="Times New Roman" panose="02020603050405020304" pitchFamily="18" charset="0"/>
              </a:rPr>
              <a:t>동작 </a:t>
            </a:r>
            <a:r>
              <a:rPr lang="ko-KR" altLang="en-US" sz="1800" b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endParaRPr lang="en-US" altLang="ko-KR" sz="1800" dirty="0"/>
          </a:p>
        </p:txBody>
      </p:sp>
      <p:grpSp>
        <p:nvGrpSpPr>
          <p:cNvPr id="22" name="그룹 21"/>
          <p:cNvGrpSpPr/>
          <p:nvPr/>
        </p:nvGrpSpPr>
        <p:grpSpPr>
          <a:xfrm>
            <a:off x="1086631" y="2836883"/>
            <a:ext cx="7494865" cy="2822577"/>
            <a:chOff x="1030570" y="3107817"/>
            <a:chExt cx="7494865" cy="2822577"/>
          </a:xfrm>
        </p:grpSpPr>
        <p:sp>
          <p:nvSpPr>
            <p:cNvPr id="5" name="TextBox 4"/>
            <p:cNvSpPr txBox="1"/>
            <p:nvPr/>
          </p:nvSpPr>
          <p:spPr>
            <a:xfrm>
              <a:off x="2583023" y="4184243"/>
              <a:ext cx="1729001" cy="33855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 </a:t>
              </a:r>
              <a:r>
                <a:rPr lang="en-US" altLang="ko-KR" sz="16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syslogd</a:t>
              </a:r>
              <a:r>
                <a:rPr lang="en-US" altLang="ko-KR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sz="16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rsyslogd</a:t>
              </a:r>
              <a:endParaRPr lang="ko-KR" altLang="en-US" sz="1477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30570" y="5610755"/>
              <a:ext cx="1090363" cy="31963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77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 로그 파일 </a:t>
              </a:r>
              <a:endParaRPr lang="ko-KR" altLang="en-US" sz="1477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185290" y="5603168"/>
              <a:ext cx="1483098" cy="31963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77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 콘솔</a:t>
              </a:r>
              <a:r>
                <a:rPr lang="en-US" altLang="ko-KR" sz="1477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(console) </a:t>
              </a:r>
              <a:endParaRPr lang="ko-KR" altLang="en-US" sz="1477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267593" y="5595581"/>
              <a:ext cx="2244525" cy="31963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77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 외부서버</a:t>
              </a:r>
              <a:r>
                <a:rPr lang="en-US" altLang="ko-KR" sz="1477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(Remote Host)</a:t>
              </a:r>
              <a:endParaRPr lang="ko-KR" altLang="en-US" sz="1477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순서도: 카드 8"/>
            <p:cNvSpPr/>
            <p:nvPr/>
          </p:nvSpPr>
          <p:spPr bwMode="auto">
            <a:xfrm rot="10800000">
              <a:off x="6316137" y="3968583"/>
              <a:ext cx="2209298" cy="970969"/>
            </a:xfrm>
            <a:prstGeom prst="flowChartPunchedCard">
              <a:avLst/>
            </a:prstGeom>
            <a:noFill/>
            <a:ln w="19050"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 eaLnBrk="0" latinLnBrk="0" hangingPunct="0">
                <a:buClr>
                  <a:schemeClr val="tx1"/>
                </a:buClr>
              </a:pPr>
              <a:endParaRPr lang="ko-KR" altLang="en-US" sz="1662" dirty="0">
                <a:latin typeface="+mj-lt"/>
                <a:ea typeface="+mj-ea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44541" y="4043770"/>
              <a:ext cx="1717137" cy="8451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92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환경 설정 파일</a:t>
              </a:r>
              <a:endParaRPr lang="en-US" altLang="ko-KR" sz="1292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endParaRPr>
            </a:p>
            <a:p>
              <a:r>
                <a:rPr lang="en-US" altLang="ko-KR" dirty="0" smtClean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/</a:t>
              </a:r>
              <a:r>
                <a:rPr lang="en-US" altLang="ko-KR" dirty="0" err="1" smtClean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etc</a:t>
              </a:r>
              <a:r>
                <a:rPr lang="en-US" altLang="ko-KR" dirty="0" smtClean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/</a:t>
              </a:r>
              <a:r>
                <a:rPr lang="en-US" altLang="ko-KR" dirty="0" err="1" smtClean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syslog.conf</a:t>
              </a:r>
              <a:endPara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endParaRPr>
            </a:p>
            <a:p>
              <a:r>
                <a:rPr lang="en-US" altLang="ko-KR" dirty="0" smtClean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/</a:t>
              </a:r>
              <a:r>
                <a:rPr lang="en-US" altLang="ko-KR" dirty="0" err="1" smtClean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etc</a:t>
              </a:r>
              <a:r>
                <a:rPr lang="en-US" altLang="ko-KR" dirty="0" smtClean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/</a:t>
              </a:r>
              <a:r>
                <a:rPr lang="en-US" altLang="ko-KR" dirty="0" err="1" smtClean="0">
                  <a:latin typeface="Times New Roman" panose="02020603050405020304" pitchFamily="18" charset="0"/>
                  <a:ea typeface="함초롬바탕" panose="02030504000101010101" pitchFamily="18" charset="-127"/>
                  <a:cs typeface="Times New Roman" panose="02020603050405020304" pitchFamily="18" charset="0"/>
                </a:rPr>
                <a:t>rsyslog.conf</a:t>
              </a:r>
              <a:endPara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35523" y="3107817"/>
              <a:ext cx="1402948" cy="31963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77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응용 프로그램 </a:t>
              </a:r>
              <a:endParaRPr lang="ko-KR" altLang="en-US" sz="1477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781299" y="3107817"/>
              <a:ext cx="2116285" cy="31963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77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운영체제 </a:t>
              </a:r>
              <a:r>
                <a:rPr lang="ko-KR" altLang="en-US" sz="1477" dirty="0" err="1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커널</a:t>
              </a:r>
              <a:r>
                <a:rPr lang="ko-KR" altLang="en-US" sz="1477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 </a:t>
              </a:r>
              <a:r>
                <a:rPr lang="en-US" altLang="ko-KR" sz="1477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(Kernel)</a:t>
              </a:r>
              <a:endParaRPr lang="ko-KR" altLang="en-US" sz="1477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직선 화살표 연결선 15"/>
            <p:cNvCxnSpPr/>
            <p:nvPr/>
          </p:nvCxnSpPr>
          <p:spPr bwMode="auto">
            <a:xfrm>
              <a:off x="2301143" y="3420328"/>
              <a:ext cx="884147" cy="77132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" name="직선 화살표 연결선 17"/>
            <p:cNvCxnSpPr/>
            <p:nvPr/>
          </p:nvCxnSpPr>
          <p:spPr bwMode="auto">
            <a:xfrm flipH="1">
              <a:off x="3595284" y="3420328"/>
              <a:ext cx="1067038" cy="77132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직선 화살표 연결선 19"/>
            <p:cNvCxnSpPr>
              <a:endCxn id="5" idx="3"/>
            </p:cNvCxnSpPr>
            <p:nvPr/>
          </p:nvCxnSpPr>
          <p:spPr bwMode="auto">
            <a:xfrm flipH="1">
              <a:off x="4312024" y="4347905"/>
              <a:ext cx="2004114" cy="561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" name="직선 화살표 연결선 22"/>
            <p:cNvCxnSpPr>
              <a:endCxn id="6" idx="0"/>
            </p:cNvCxnSpPr>
            <p:nvPr/>
          </p:nvCxnSpPr>
          <p:spPr bwMode="auto">
            <a:xfrm flipH="1">
              <a:off x="1575752" y="4533776"/>
              <a:ext cx="1318588" cy="107697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" name="직선 화살표 연결선 24"/>
            <p:cNvCxnSpPr>
              <a:stCxn id="5" idx="2"/>
            </p:cNvCxnSpPr>
            <p:nvPr/>
          </p:nvCxnSpPr>
          <p:spPr bwMode="auto">
            <a:xfrm>
              <a:off x="3447524" y="4522797"/>
              <a:ext cx="615655" cy="106537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직선 화살표 연결선 26"/>
            <p:cNvCxnSpPr/>
            <p:nvPr/>
          </p:nvCxnSpPr>
          <p:spPr bwMode="auto">
            <a:xfrm>
              <a:off x="3923806" y="4526742"/>
              <a:ext cx="2392331" cy="106883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1" name="제목 1"/>
          <p:cNvSpPr>
            <a:spLocks noGrp="1"/>
          </p:cNvSpPr>
          <p:nvPr>
            <p:ph type="title"/>
          </p:nvPr>
        </p:nvSpPr>
        <p:spPr>
          <a:xfrm>
            <a:off x="595872" y="453395"/>
            <a:ext cx="7475576" cy="467090"/>
          </a:xfrm>
        </p:spPr>
        <p:txBody>
          <a:bodyPr>
            <a:noAutofit/>
          </a:bodyPr>
          <a:lstStyle/>
          <a:p>
            <a:r>
              <a:rPr lang="ko-KR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로그 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 : syslog/</a:t>
            </a:r>
            <a:r>
              <a:rPr lang="en-US" altLang="ko-KR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53645" y="3614217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65627" y="2812036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09566" y="5339821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9172388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C5FE9-59FF-4223-9A3A-0E131141A25B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3" name="그림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295" y="1226421"/>
            <a:ext cx="6466140" cy="428413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/>
          <p:cNvSpPr/>
          <p:nvPr/>
        </p:nvSpPr>
        <p:spPr>
          <a:xfrm>
            <a:off x="582705" y="5613840"/>
            <a:ext cx="8561295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47955" algn="just">
              <a:lnSpc>
                <a:spcPct val="150000"/>
              </a:lnSpc>
            </a:pPr>
            <a:r>
              <a:rPr lang="en-US" altLang="ko-KR" sz="1500" kern="100" dirty="0">
                <a:latin typeface="함초롬바탕" panose="02030504000101010101" pitchFamily="18" charset="-127"/>
                <a:cs typeface="Times New Roman" panose="02020603050405020304" pitchFamily="18" charset="0"/>
              </a:rPr>
              <a:t>- </a:t>
            </a:r>
            <a:r>
              <a:rPr lang="en-US" altLang="ko-KR" sz="1500" kern="100" dirty="0" smtClean="0">
                <a:latin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500" kern="1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rsyslogd</a:t>
            </a:r>
            <a:r>
              <a:rPr lang="en-US" altLang="ko-KR" sz="1500" kern="1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500" kern="100" smtClean="0"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데몬</a:t>
            </a:r>
            <a:r>
              <a:rPr lang="ko-KR" altLang="en-US" sz="1500" kern="100" smtClean="0"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은</a:t>
            </a:r>
            <a:r>
              <a:rPr lang="ko-KR" altLang="ko-KR" sz="1500" kern="100" smtClean="0"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500" kern="100" dirty="0"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1500" kern="1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etc</a:t>
            </a:r>
            <a:r>
              <a:rPr lang="en-US" altLang="ko-KR" sz="1500" kern="1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1500" kern="1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rsyslog.conf</a:t>
            </a:r>
            <a:r>
              <a:rPr lang="en-US" altLang="ko-KR" sz="1500" kern="100" dirty="0">
                <a:latin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500" kern="100"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설정파일을 참조하여 로그를 남김</a:t>
            </a:r>
            <a:endParaRPr lang="ko-KR" altLang="ko-KR" sz="1500" kern="10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50000"/>
              </a:lnSpc>
            </a:pPr>
            <a:r>
              <a:rPr lang="en-US" altLang="ko-KR" sz="1500" kern="0" dirty="0">
                <a:solidFill>
                  <a:srgbClr val="000000"/>
                </a:solidFill>
                <a:latin typeface="함초롬바탕" panose="02030504000101010101" pitchFamily="18" charset="-127"/>
                <a:cs typeface="Times New Roman" panose="02020603050405020304" pitchFamily="18" charset="0"/>
              </a:rPr>
              <a:t>- </a:t>
            </a:r>
            <a:r>
              <a:rPr lang="en-US" altLang="ko-KR" sz="1500" kern="100" dirty="0">
                <a:latin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1500" kern="1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etc</a:t>
            </a:r>
            <a:r>
              <a:rPr lang="en-US" altLang="ko-KR" sz="1500" kern="1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1500" kern="1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rsyslog.conf</a:t>
            </a:r>
            <a:r>
              <a:rPr lang="en-US" altLang="ko-KR" sz="1500" kern="100" dirty="0">
                <a:latin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500" kern="0" spc="-4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파일에는</a:t>
            </a:r>
            <a:r>
              <a:rPr lang="en-US" altLang="ko-KR" sz="1500" kern="0" spc="-40" dirty="0">
                <a:solidFill>
                  <a:srgbClr val="000000"/>
                </a:solidFill>
                <a:latin typeface="Cambria" panose="02040503050406030204" pitchFamily="18" charset="0"/>
                <a:ea typeface="함초롬바탕" panose="02030504000101010101" pitchFamily="18" charset="-127"/>
                <a:cs typeface="Cambria" panose="02040503050406030204" pitchFamily="18" charset="0"/>
              </a:rPr>
              <a:t> </a:t>
            </a:r>
            <a:r>
              <a:rPr lang="ko-KR" altLang="ko-KR" sz="1500" kern="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“</a:t>
            </a:r>
            <a:r>
              <a:rPr lang="ko-KR" altLang="ko-KR" sz="1500" kern="0" spc="-4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어디에서 로그가 생성이 되면 어디에 </a:t>
            </a:r>
            <a:r>
              <a:rPr lang="ko-KR" altLang="ko-KR" sz="1500" kern="0" spc="-40" smtClean="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로그를</a:t>
            </a:r>
            <a:r>
              <a:rPr lang="en-US" altLang="ko-KR" sz="1500" kern="0" spc="-40" dirty="0" smtClean="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500" kern="0" spc="-40" smtClean="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남겨라</a:t>
            </a:r>
            <a:r>
              <a:rPr lang="ko-KR" altLang="ko-KR" sz="1500" kern="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”</a:t>
            </a:r>
            <a:r>
              <a:rPr lang="ko-KR" altLang="ko-KR" sz="1500" kern="0" spc="-40">
                <a:solidFill>
                  <a:srgbClr val="000000"/>
                </a:solidFill>
                <a:latin typeface="맑은 고딕" panose="020B0503020000020004" pitchFamily="50" charset="-127"/>
                <a:ea typeface="함초롬바탕" panose="02030504000101010101" pitchFamily="18" charset="-127"/>
                <a:cs typeface="Times New Roman" panose="02020603050405020304" pitchFamily="18" charset="0"/>
              </a:rPr>
              <a:t>설정 </a:t>
            </a:r>
            <a:r>
              <a:rPr lang="en-US" altLang="ko-KR" sz="1500" kern="0" dirty="0">
                <a:solidFill>
                  <a:srgbClr val="000000"/>
                </a:solidFill>
                <a:latin typeface="Cambria" panose="02040503050406030204" pitchFamily="18" charset="0"/>
                <a:ea typeface="함초롬바탕" panose="02030504000101010101" pitchFamily="18" charset="-127"/>
                <a:cs typeface="Cambria" panose="02040503050406030204" pitchFamily="18" charset="0"/>
              </a:rPr>
              <a:t> </a:t>
            </a:r>
            <a:endParaRPr lang="ko-KR" altLang="ko-KR" sz="1500" kern="10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03683" y="165637"/>
            <a:ext cx="78117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(rocket-fast system for log processing)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427541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38164" y="362744"/>
            <a:ext cx="7920880" cy="5256584"/>
          </a:xfrm>
        </p:spPr>
        <p:txBody>
          <a:bodyPr>
            <a:normAutofit/>
          </a:bodyPr>
          <a:lstStyle/>
          <a:p>
            <a:pPr marL="0" indent="0" algn="just" fontAlgn="base">
              <a:lnSpc>
                <a:spcPct val="200000"/>
              </a:lnSpc>
              <a:buNone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개요</a:t>
            </a:r>
            <a:r>
              <a:rPr lang="ko-KR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lvl="2" algn="just" fontAlgn="base">
              <a:lnSpc>
                <a:spcPct val="150000"/>
              </a:lnSpc>
            </a:pPr>
            <a:r>
              <a:rPr lang="en-US" altLang="ko-KR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rsyslogd</a:t>
            </a:r>
            <a:r>
              <a:rPr lang="en-US" altLang="ko-KR" sz="1800" dirty="0" smtClean="0"/>
              <a:t> </a:t>
            </a:r>
            <a:r>
              <a:rPr lang="ko-KR" altLang="en-US" sz="1800" dirty="0" err="1"/>
              <a:t>데몬이</a:t>
            </a:r>
            <a:r>
              <a:rPr lang="ko-KR" altLang="en-US" sz="1800" dirty="0"/>
              <a:t> 동작하면서 </a:t>
            </a:r>
            <a:r>
              <a:rPr lang="ko-KR" altLang="en-US" sz="1800"/>
              <a:t>로그를 </a:t>
            </a:r>
            <a:r>
              <a:rPr lang="ko-KR" altLang="en-US" sz="1800" smtClean="0"/>
              <a:t>기록</a:t>
            </a:r>
            <a:endParaRPr lang="en-US" altLang="ko-KR" sz="1800" dirty="0" smtClean="0"/>
          </a:p>
          <a:p>
            <a:pPr marL="358775" lvl="2" algn="just" fontAlgn="base">
              <a:lnSpc>
                <a:spcPct val="150000"/>
              </a:lnSpc>
            </a:pPr>
            <a:r>
              <a:rPr lang="ko-KR" altLang="en-US" sz="1800" dirty="0" smtClean="0"/>
              <a:t>데몬 </a:t>
            </a:r>
            <a:r>
              <a:rPr lang="ko-KR" altLang="en-US" sz="1800" dirty="0"/>
              <a:t>동작은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rc.d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init.d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ko-KR" altLang="en-US" sz="1800" dirty="0"/>
              <a:t>라는 </a:t>
            </a:r>
            <a:r>
              <a:rPr lang="ko-KR" altLang="en-US" sz="1800"/>
              <a:t>스크립트를 </a:t>
            </a:r>
            <a:r>
              <a:rPr lang="ko-KR" altLang="en-US" sz="1800" smtClean="0"/>
              <a:t>이용</a:t>
            </a:r>
            <a:endParaRPr lang="en-US" altLang="ko-KR" sz="1800" dirty="0" smtClean="0"/>
          </a:p>
          <a:p>
            <a:pPr marL="358775" lvl="2" algn="just" fontAlgn="base">
              <a:lnSpc>
                <a:spcPct val="150000"/>
              </a:lnSpc>
            </a:pPr>
            <a:r>
              <a:rPr lang="ko-KR" altLang="en-US" sz="1800" dirty="0" smtClean="0"/>
              <a:t>환경 </a:t>
            </a:r>
            <a:r>
              <a:rPr lang="ko-KR" altLang="en-US" sz="1800" dirty="0"/>
              <a:t>설정은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rsyslog.conf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800" dirty="0"/>
              <a:t>파일을 </a:t>
            </a:r>
            <a:r>
              <a:rPr lang="ko-KR" altLang="en-US" sz="1800"/>
              <a:t>통해서 </a:t>
            </a:r>
            <a:r>
              <a:rPr lang="ko-KR" altLang="en-US" sz="1800" smtClean="0"/>
              <a:t>제어</a:t>
            </a:r>
            <a:endParaRPr lang="en-US" altLang="ko-KR" sz="1800" dirty="0" smtClean="0"/>
          </a:p>
          <a:p>
            <a:pPr lvl="2" algn="just" fontAlgn="base"/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1D29-70A3-4759-9D6D-98753CD5BFDD}" type="slidenum">
              <a:rPr lang="ko-KR" altLang="en-US" smtClean="0"/>
              <a:t>21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821534" y="2853143"/>
          <a:ext cx="7802513" cy="2936811"/>
        </p:xfrm>
        <a:graphic>
          <a:graphicData uri="http://schemas.openxmlformats.org/drawingml/2006/table">
            <a:tbl>
              <a:tblPr/>
              <a:tblGrid>
                <a:gridCol w="2567125"/>
                <a:gridCol w="5235388"/>
              </a:tblGrid>
              <a:tr h="3920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파일명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71223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etc</a:t>
                      </a: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rc.d</a:t>
                      </a: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init.d</a:t>
                      </a: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rsyslog</a:t>
                      </a:r>
                      <a:endParaRPr lang="en-US" sz="1800" b="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rsyslogd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b="0" kern="0" spc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데몬을 동작 시키는 </a:t>
                      </a:r>
                      <a:r>
                        <a:rPr lang="ko-KR" altLang="en-US" sz="1600" b="0" kern="0" spc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스크립트</a:t>
                      </a:r>
                      <a:endParaRPr lang="en-US" altLang="ko-KR" sz="1600" b="0" kern="0" spc="0" dirty="0" smtClean="0">
                        <a:solidFill>
                          <a:srgbClr val="000000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start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, stop, restart </a:t>
                      </a:r>
                      <a:r>
                        <a:rPr lang="ko-KR" altLang="en-US" sz="1600" b="0" kern="0" spc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등의 인자값을 </a:t>
                      </a:r>
                      <a:r>
                        <a:rPr lang="ko-KR" altLang="en-US" sz="1600" b="0" kern="0" spc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사용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321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etc</a:t>
                      </a: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rsyslog.conf</a:t>
                      </a:r>
                      <a:endParaRPr lang="en-US" sz="1800" b="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rsyslogd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b="0" kern="0" spc="0" err="1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데몬의</a:t>
                      </a:r>
                      <a:r>
                        <a:rPr lang="ko-KR" altLang="en-US" sz="1600" b="0" kern="0" spc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b="0" kern="0" spc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환경설정파일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321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etc</a:t>
                      </a: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sysconfig</a:t>
                      </a: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rsyslog</a:t>
                      </a:r>
                      <a:endParaRPr lang="en-US" sz="1800" b="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rsyslogd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b="0" kern="0" spc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데몬 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실행과 관련된 옵션이 </a:t>
                      </a:r>
                      <a:r>
                        <a:rPr lang="ko-KR" altLang="en-US" sz="1600" b="0" kern="0" spc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설정되는 </a:t>
                      </a:r>
                      <a:r>
                        <a:rPr lang="ko-KR" altLang="en-US" sz="1600" b="0" kern="0" spc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파일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321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sbin</a:t>
                      </a: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rsyslogd</a:t>
                      </a:r>
                      <a:endParaRPr lang="en-US" sz="1800" b="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실제 </a:t>
                      </a:r>
                      <a:r>
                        <a:rPr lang="en-US" altLang="ko-KR" sz="1600" b="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rsyslogd</a:t>
                      </a:r>
                      <a:r>
                        <a:rPr lang="en-US" altLang="ko-KR" sz="16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데몬 </a:t>
                      </a:r>
                      <a:r>
                        <a:rPr lang="ko-KR" altLang="en-US" sz="1600" b="0" kern="0" spc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실행 </a:t>
                      </a:r>
                      <a:r>
                        <a:rPr lang="ko-KR" altLang="en-US" sz="1600" b="0" kern="0" spc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명령</a:t>
                      </a:r>
                      <a:endParaRPr lang="en-US" altLang="ko-KR" sz="1600" b="0" kern="0" spc="0" dirty="0">
                        <a:solidFill>
                          <a:srgbClr val="000000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256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4728" y="506179"/>
            <a:ext cx="8272753" cy="5831868"/>
          </a:xfrm>
        </p:spPr>
        <p:txBody>
          <a:bodyPr>
            <a:normAutofit/>
          </a:bodyPr>
          <a:lstStyle/>
          <a:p>
            <a:pPr marL="0" indent="0" algn="just" fontAlgn="base">
              <a:lnSpc>
                <a:spcPct val="200000"/>
              </a:lnSpc>
              <a:buNone/>
            </a:pP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stop/start/restart 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ko-KR" sz="2400" dirty="0" smtClean="0"/>
              <a:t>⟶  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rsyslogd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smtClean="0"/>
              <a:t>동작 중단</a:t>
            </a:r>
            <a:r>
              <a:rPr lang="en-US" altLang="ko-KR" sz="2000" dirty="0" smtClean="0"/>
              <a:t>/</a:t>
            </a:r>
            <a:r>
              <a:rPr lang="ko-KR" altLang="en-US" sz="2000" smtClean="0"/>
              <a:t>시작</a:t>
            </a:r>
            <a:r>
              <a:rPr lang="en-US" altLang="ko-KR" sz="2000" dirty="0" smtClean="0"/>
              <a:t>/</a:t>
            </a:r>
            <a:r>
              <a:rPr lang="ko-KR" altLang="en-US" sz="2000" smtClean="0"/>
              <a:t>재시작</a:t>
            </a:r>
            <a:endParaRPr lang="en-US" altLang="ko-KR" sz="2000" dirty="0" smtClean="0"/>
          </a:p>
          <a:p>
            <a:pPr marL="0" indent="0" algn="just" fontAlgn="base">
              <a:lnSpc>
                <a:spcPct val="200000"/>
              </a:lnSpc>
              <a:buNone/>
            </a:pP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ystemctl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enable 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altLang="ko-KR" sz="2400" dirty="0"/>
              <a:t>⟶  </a:t>
            </a:r>
            <a:r>
              <a:rPr lang="ko-KR" altLang="en-US" sz="2000" smtClean="0"/>
              <a:t>부팅 시 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rsyslogd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활성화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 algn="just" fontAlgn="base">
              <a:lnSpc>
                <a:spcPct val="200000"/>
              </a:lnSpc>
              <a:buNone/>
            </a:pP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–l status 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ko-KR" sz="2200" dirty="0" smtClean="0"/>
              <a:t>⟶  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rsyslogd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smtClean="0"/>
              <a:t>상태 정보 확인</a:t>
            </a:r>
            <a:endParaRPr lang="en-US" altLang="ko-KR" sz="2000" dirty="0"/>
          </a:p>
          <a:p>
            <a:pPr marL="0" indent="0" algn="just" fontAlgn="base">
              <a:lnSpc>
                <a:spcPct val="200000"/>
              </a:lnSpc>
              <a:buNone/>
            </a:pP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aux | 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grep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altLang="ko-KR" sz="2200" dirty="0" smtClean="0"/>
              <a:t>⟶ 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rsyslogd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smtClean="0"/>
              <a:t>동작</a:t>
            </a:r>
            <a:r>
              <a:rPr lang="en-US" altLang="ko-KR" sz="1600" dirty="0" smtClean="0"/>
              <a:t> </a:t>
            </a:r>
            <a:r>
              <a:rPr lang="ko-KR" altLang="en-US" sz="1600" smtClean="0"/>
              <a:t>확인 </a:t>
            </a:r>
            <a:endParaRPr lang="ko-KR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1D29-70A3-4759-9D6D-98753CD5BFD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415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4728" y="506179"/>
            <a:ext cx="8272753" cy="5831868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ko-KR" altLang="en-US" dirty="0" smtClean="0"/>
              <a:t>파일 </a:t>
            </a:r>
            <a:r>
              <a:rPr lang="en-US" altLang="ko-KR" dirty="0" smtClean="0"/>
              <a:t>/</a:t>
            </a: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rsyslog.conf</a:t>
            </a:r>
            <a:endParaRPr lang="en-US" altLang="ko-KR" dirty="0" smtClean="0"/>
          </a:p>
          <a:p>
            <a:pPr marL="0" indent="0" algn="just" fontAlgn="base">
              <a:buNone/>
            </a:pPr>
            <a:endParaRPr lang="en-US" altLang="ko-KR" sz="2400" dirty="0" smtClean="0"/>
          </a:p>
          <a:p>
            <a:pPr marL="400050" lvl="1" indent="0" algn="just" fontAlgn="base">
              <a:buNone/>
            </a:pPr>
            <a:endParaRPr lang="en-US" altLang="ko-KR" sz="1800" b="1" dirty="0" smtClean="0">
              <a:latin typeface="+mn-ea"/>
              <a:ea typeface="+mn-ea"/>
            </a:endParaRPr>
          </a:p>
          <a:p>
            <a:pPr marL="400050" lvl="1" indent="0" algn="just" fontAlgn="base">
              <a:buNone/>
            </a:pPr>
            <a:r>
              <a:rPr lang="en-US" altLang="ko-KR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</a:t>
            </a:r>
            <a:r>
              <a:rPr lang="en-US" altLang="ko-KR" b="1" dirty="0" err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facility.priority</a:t>
            </a:r>
            <a:r>
              <a:rPr lang="en-US" altLang="ko-KR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lang="en-US" altLang="ko-KR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action</a:t>
            </a:r>
          </a:p>
          <a:p>
            <a:pPr marL="804863" lvl="1" indent="-404813" algn="just" fontAlgn="base">
              <a:buNone/>
            </a:pPr>
            <a:r>
              <a:rPr lang="en-US" altLang="ko-KR" sz="1800" b="1" dirty="0" smtClean="0">
                <a:latin typeface="+mn-ea"/>
                <a:ea typeface="+mn-ea"/>
              </a:rPr>
              <a:t> </a:t>
            </a:r>
          </a:p>
          <a:p>
            <a:pPr marL="804863" lvl="1" indent="-404813" algn="just" fontAlgn="base">
              <a:buNone/>
            </a:pPr>
            <a:r>
              <a:rPr lang="en-US" altLang="ko-KR" sz="1800" dirty="0" smtClean="0"/>
              <a:t>❶ 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Facility</a:t>
            </a:r>
          </a:p>
          <a:p>
            <a:pPr marL="804863" lvl="1" indent="-404813" algn="just" fontAlgn="base">
              <a:lnSpc>
                <a:spcPct val="150000"/>
              </a:lnSpc>
              <a:buNone/>
            </a:pPr>
            <a:r>
              <a:rPr lang="en-US" altLang="ko-KR" sz="1700" dirty="0"/>
              <a:t> </a:t>
            </a:r>
            <a:r>
              <a:rPr lang="en-US" altLang="ko-KR" sz="1700" dirty="0" smtClean="0"/>
              <a:t>   - </a:t>
            </a:r>
            <a:r>
              <a:rPr lang="ko-KR" altLang="en-US" sz="1700" smtClean="0"/>
              <a:t>일종의 </a:t>
            </a:r>
            <a:r>
              <a:rPr lang="ko-KR" altLang="en-US" sz="1700"/>
              <a:t>서비스를 </a:t>
            </a:r>
            <a:r>
              <a:rPr lang="ko-KR" altLang="en-US" sz="1700" smtClean="0"/>
              <a:t>의미</a:t>
            </a:r>
            <a:r>
              <a:rPr lang="en-US" altLang="ko-KR" sz="1700" dirty="0" smtClean="0"/>
              <a:t>, </a:t>
            </a:r>
            <a:r>
              <a:rPr lang="ko-KR" altLang="en-US" sz="1700" smtClean="0"/>
              <a:t>메시지를 </a:t>
            </a:r>
            <a:r>
              <a:rPr lang="ko-KR" altLang="en-US" sz="1700" dirty="0"/>
              <a:t>발생시키는 </a:t>
            </a:r>
            <a:r>
              <a:rPr lang="ko-KR" altLang="en-US" sz="1700"/>
              <a:t>프로그램의 </a:t>
            </a:r>
            <a:r>
              <a:rPr lang="ko-KR" altLang="en-US" sz="1700" smtClean="0"/>
              <a:t>유형</a:t>
            </a:r>
            <a:endParaRPr lang="en-US" altLang="ko-KR" sz="1700" dirty="0" smtClean="0"/>
          </a:p>
          <a:p>
            <a:pPr marL="804863" lvl="1" indent="-404813" algn="just" fontAlgn="base">
              <a:buNone/>
            </a:pPr>
            <a:r>
              <a:rPr lang="en-US" altLang="ko-KR" sz="1800" dirty="0" smtClean="0"/>
              <a:t> </a:t>
            </a:r>
          </a:p>
          <a:p>
            <a:pPr marL="804863" lvl="1" indent="-404813" algn="just" fontAlgn="base">
              <a:buNone/>
            </a:pPr>
            <a:r>
              <a:rPr lang="en-US" altLang="ko-KR" sz="1800" dirty="0" smtClean="0"/>
              <a:t>❷ 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</a:p>
          <a:p>
            <a:pPr marL="804863" lvl="1" indent="-404813" algn="just" fontAlgn="base">
              <a:lnSpc>
                <a:spcPct val="150000"/>
              </a:lnSpc>
              <a:buNone/>
            </a:pPr>
            <a:r>
              <a:rPr lang="en-US" altLang="ko-KR" sz="1700" dirty="0" smtClean="0"/>
              <a:t>    - </a:t>
            </a:r>
            <a:r>
              <a:rPr lang="ko-KR" altLang="en-US" sz="1700" smtClean="0"/>
              <a:t>위험 </a:t>
            </a:r>
            <a:r>
              <a:rPr lang="ko-KR" altLang="en-US" sz="1700"/>
              <a:t>정도를 </a:t>
            </a:r>
            <a:r>
              <a:rPr lang="ko-KR" altLang="en-US" sz="1700" smtClean="0"/>
              <a:t>나타냄</a:t>
            </a:r>
            <a:r>
              <a:rPr lang="en-US" altLang="ko-KR" sz="1700" dirty="0" smtClean="0"/>
              <a:t>, </a:t>
            </a:r>
            <a:r>
              <a:rPr lang="ko-KR" altLang="en-US" sz="1700" smtClean="0"/>
              <a:t>설정한 </a:t>
            </a:r>
            <a:r>
              <a:rPr lang="ko-KR" altLang="en-US" sz="1700" dirty="0"/>
              <a:t>수준보다 높아야 </a:t>
            </a:r>
            <a:r>
              <a:rPr lang="ko-KR" altLang="en-US" sz="1700"/>
              <a:t>메시지를 </a:t>
            </a:r>
            <a:r>
              <a:rPr lang="ko-KR" altLang="en-US" sz="1700" smtClean="0"/>
              <a:t>보냄</a:t>
            </a:r>
            <a:endParaRPr lang="en-US" altLang="ko-KR" sz="1700" dirty="0" smtClean="0"/>
          </a:p>
          <a:p>
            <a:pPr marL="804863" lvl="1" indent="-404813" algn="just" fontAlgn="base">
              <a:buNone/>
            </a:pPr>
            <a:r>
              <a:rPr lang="en-US" altLang="ko-KR" sz="1800" dirty="0" smtClean="0"/>
              <a:t> </a:t>
            </a:r>
          </a:p>
          <a:p>
            <a:pPr marL="804863" lvl="1" indent="-404813" algn="just" fontAlgn="base">
              <a:buNone/>
            </a:pPr>
            <a:r>
              <a:rPr lang="en-US" altLang="ko-KR" sz="1800" dirty="0" smtClean="0"/>
              <a:t>❸ 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</a:p>
          <a:p>
            <a:pPr marL="804863" lvl="1" indent="-404813" algn="just" fontAlgn="base">
              <a:lnSpc>
                <a:spcPct val="150000"/>
              </a:lnSpc>
              <a:buNone/>
            </a:pPr>
            <a:r>
              <a:rPr lang="en-US" altLang="ko-KR" sz="1800" dirty="0" smtClean="0"/>
              <a:t>    </a:t>
            </a:r>
            <a:r>
              <a:rPr lang="en-US" altLang="ko-KR" sz="1700" dirty="0" smtClean="0"/>
              <a:t>- </a:t>
            </a:r>
            <a:r>
              <a:rPr lang="ko-KR" altLang="en-US" sz="1700" smtClean="0"/>
              <a:t>메시지를 보낼 목적지나 행동들에 관한 설정으로 일반적으로 파일명을 적음</a:t>
            </a:r>
            <a:endParaRPr lang="ko-KR" altLang="en-US" sz="17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1D29-70A3-4759-9D6D-98753CD5BFD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70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6193" y="114388"/>
            <a:ext cx="7920880" cy="381327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facility</a:t>
            </a:r>
            <a:r>
              <a:rPr lang="ko-KR" altLang="en-US" sz="1800" dirty="0" smtClean="0"/>
              <a:t> 종류</a:t>
            </a:r>
            <a:endParaRPr lang="ko-KR" altLang="en-US" sz="1800" b="1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1D29-70A3-4759-9D6D-98753CD5BFDD}" type="slidenum">
              <a:rPr lang="ko-KR" altLang="en-US" smtClean="0"/>
              <a:t>24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551142"/>
              </p:ext>
            </p:extLst>
          </p:nvPr>
        </p:nvGraphicFramePr>
        <p:xfrm>
          <a:off x="866672" y="431143"/>
          <a:ext cx="7600401" cy="6364986"/>
        </p:xfrm>
        <a:graphic>
          <a:graphicData uri="http://schemas.openxmlformats.org/drawingml/2006/table">
            <a:tbl>
              <a:tblPr/>
              <a:tblGrid>
                <a:gridCol w="1807703"/>
                <a:gridCol w="5792698"/>
              </a:tblGrid>
              <a:tr h="2482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facility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cron</a:t>
                      </a:r>
                      <a:endParaRPr lang="en-US" sz="1600" b="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cron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, at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과 같은 스케줄링 프로그램이 발생한 메시지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</a:t>
                      </a: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security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login</a:t>
                      </a:r>
                      <a:r>
                        <a:rPr lang="ko-KR" altLang="en-US" sz="1400" b="0" kern="0" spc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과 같이 인증프로그램 유형이 발생한 메시지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authpriv</a:t>
                      </a:r>
                      <a:endParaRPr lang="en-US" sz="1600" b="0" kern="0" spc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ssh</a:t>
                      </a:r>
                      <a:r>
                        <a:rPr lang="ko-KR" altLang="en-US" sz="1400" b="0" kern="0" spc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와 같이 인증을 필요한 프로그램 유형이 발생한 </a:t>
                      </a:r>
                      <a:r>
                        <a:rPr lang="ko-KR" altLang="en-US" sz="1400" b="0" kern="0" spc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메시지</a:t>
                      </a:r>
                      <a:endParaRPr lang="en-US" altLang="ko-KR" sz="1400" b="0" kern="0" spc="0" dirty="0" smtClean="0">
                        <a:solidFill>
                          <a:srgbClr val="000000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사용자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추가 시에도 메시지가 </a:t>
                      </a:r>
                      <a:r>
                        <a:rPr lang="ko-KR" altLang="en-US" sz="1400" b="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발생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daemon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telnet, ftp </a:t>
                      </a:r>
                      <a:r>
                        <a:rPr lang="ko-KR" altLang="en-US" sz="1400" b="0" kern="0" spc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등과 같이 여러 데몬이 발생한 메시지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kern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커널이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발생한 메시지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lpr</a:t>
                      </a:r>
                      <a:endParaRPr lang="en-US" sz="1600" b="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프린트 유형의 프로그램이 발생한 메시지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mail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mail </a:t>
                      </a:r>
                      <a:r>
                        <a:rPr lang="ko-KR" altLang="en-US" sz="1400" b="0" kern="0" spc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시스템이 발생한 메시지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mark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syslogd</a:t>
                      </a:r>
                      <a:r>
                        <a:rPr lang="ko-KR" altLang="en-US" sz="1400" b="0" kern="0" spc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에 의해 만들어지는 날짜 유형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news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유즈넷 뉴스 프로그램 유형이 발생한 메시지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syslog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syslog </a:t>
                      </a:r>
                      <a:r>
                        <a:rPr lang="ko-KR" altLang="en-US" sz="1400" b="0" kern="0" spc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프로그램이 유형이 발생한 메시지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사용자 프로세스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uucp</a:t>
                      </a:r>
                      <a:endParaRPr lang="en-US" sz="1600" b="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UUCP(UNIX to UNIX Copy Protocol)</a:t>
                      </a:r>
                      <a:r>
                        <a:rPr lang="ko-KR" altLang="en-US" sz="1400" b="0" kern="0" spc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시스템이 발생한 메시지 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local0 ~ local7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여분으로 남겨둔 유형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모든 </a:t>
                      </a:r>
                      <a:r>
                        <a:rPr 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facility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를 의미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752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66445" y="335850"/>
            <a:ext cx="7920880" cy="470974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altLang="ko-KR" b="1" dirty="0" smtClean="0"/>
              <a:t>* </a:t>
            </a:r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ko-KR" altLang="en-US" b="1" smtClean="0"/>
              <a:t> 종류</a:t>
            </a:r>
            <a:endParaRPr lang="ko-KR" altLang="en-US" b="1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1D29-70A3-4759-9D6D-98753CD5BFDD}" type="slidenum">
              <a:rPr lang="ko-KR" altLang="en-US" smtClean="0"/>
              <a:t>25</a:t>
            </a:fld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612139" y="976438"/>
          <a:ext cx="7875186" cy="5262997"/>
        </p:xfrm>
        <a:graphic>
          <a:graphicData uri="http://schemas.openxmlformats.org/drawingml/2006/table">
            <a:tbl>
              <a:tblPr/>
              <a:tblGrid>
                <a:gridCol w="1790401"/>
                <a:gridCol w="6084785"/>
              </a:tblGrid>
              <a:tr h="4874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priority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4189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지정한 </a:t>
                      </a:r>
                      <a:r>
                        <a:rPr lang="en-US" altLang="ko-KR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facility</a:t>
                      </a:r>
                      <a:r>
                        <a:rPr lang="ko-KR" altLang="en-US" sz="1500" b="0" kern="0" spc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를 </a:t>
                      </a:r>
                      <a:r>
                        <a:rPr lang="ko-KR" altLang="en-US" sz="1500" b="0" kern="0" spc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제외</a:t>
                      </a:r>
                      <a:endParaRPr lang="en-US" altLang="ko-KR" sz="1500" b="0" kern="0" spc="0" dirty="0" smtClean="0">
                        <a:solidFill>
                          <a:srgbClr val="000000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;(</a:t>
                      </a:r>
                      <a:r>
                        <a:rPr lang="ko-KR" altLang="en-US" sz="1500" b="0" kern="0" spc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세미콜론</a:t>
                      </a:r>
                      <a:r>
                        <a:rPr lang="en-US" altLang="ko-KR" sz="1500" b="0" kern="0" spc="0" dirty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) </a:t>
                      </a:r>
                      <a:r>
                        <a:rPr lang="ko-KR" altLang="en-US" sz="1500" b="0" kern="0" spc="0" smtClean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뒤에 </a:t>
                      </a: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특정한 </a:t>
                      </a:r>
                      <a:r>
                        <a:rPr lang="en-US" altLang="ko-KR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facility</a:t>
                      </a: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를 제외할 때 사용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4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debug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프로그램을 디버깅할 때 발생하는 메시지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4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info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통계</a:t>
                      </a:r>
                      <a:r>
                        <a:rPr lang="en-US" altLang="ko-KR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, </a:t>
                      </a: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기본정보 메시지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9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notice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특별한 주의를 필요하나 에러는 아닌 메시지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9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warning, warn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주의가 필요한 경고 메시지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9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error, err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에러가 발생하는 경우의 메시지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9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crit</a:t>
                      </a:r>
                      <a:endParaRPr lang="en-US" sz="1600" b="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크게 급하지는 않지만 시스템에 문제가 생기는 단계의 메시지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4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alert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즉각적인 조정을 해야 하는 상황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4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emerg</a:t>
                      </a:r>
                      <a:r>
                        <a:rPr lang="en-US" sz="16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panic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모든 사용자들에게 전달해야 할 위험한 상황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9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533074"/>
            <a:ext cx="7920880" cy="399255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altLang="ko-KR" dirty="0" smtClean="0"/>
              <a:t>* 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ko-KR" altLang="en-US" smtClean="0"/>
              <a:t> 종류</a:t>
            </a:r>
            <a:endParaRPr lang="ko-KR" altLang="en-US" b="1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1D29-70A3-4759-9D6D-98753CD5BFDD}" type="slidenum">
              <a:rPr lang="ko-KR" altLang="en-US" smtClean="0"/>
              <a:t>26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74603" y="1225388"/>
          <a:ext cx="7680503" cy="3095600"/>
        </p:xfrm>
        <a:graphic>
          <a:graphicData uri="http://schemas.openxmlformats.org/drawingml/2006/table">
            <a:tbl>
              <a:tblPr/>
              <a:tblGrid>
                <a:gridCol w="1882181"/>
                <a:gridCol w="5798322"/>
              </a:tblGrid>
              <a:tr h="5294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action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294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file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지정한 파일에 로그를 기록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4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@host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지정한 호스트로 메시지를 전달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4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지정한 사용자가 로그인한 경우 해당 사용자의 터미널로 전달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4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현재 </a:t>
                      </a:r>
                      <a:r>
                        <a:rPr lang="ko-KR" altLang="en-US" sz="1500" b="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로그인되어</a:t>
                      </a: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있는 모든 사용자의 화면으로 전달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2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콘솔 또는 터미널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지정한 터미널로 메시지를 전달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141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2658" y="694437"/>
            <a:ext cx="8030706" cy="4567845"/>
          </a:xfrm>
        </p:spPr>
        <p:txBody>
          <a:bodyPr>
            <a:normAutofit/>
          </a:bodyPr>
          <a:lstStyle/>
          <a:p>
            <a:pPr marL="0" indent="0" algn="just" fontAlgn="base">
              <a:lnSpc>
                <a:spcPct val="120000"/>
              </a:lnSpc>
              <a:buNone/>
            </a:pPr>
            <a:r>
              <a:rPr lang="ko-KR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.=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crit;kern.none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/log/critical</a:t>
            </a:r>
          </a:p>
          <a:p>
            <a:pPr marL="355600" indent="-355600" algn="just" fontAlgn="base">
              <a:lnSpc>
                <a:spcPct val="120000"/>
              </a:lnSpc>
              <a:buNone/>
            </a:pPr>
            <a:r>
              <a:rPr lang="en-US" altLang="ko-KR" sz="1600" dirty="0" smtClean="0"/>
              <a:t> → </a:t>
            </a:r>
            <a:r>
              <a:rPr lang="ko-KR" altLang="en-US" sz="1600" smtClean="0"/>
              <a:t>모든 </a:t>
            </a:r>
            <a:r>
              <a:rPr lang="en-US" altLang="ko-KR" sz="1600" dirty="0" smtClean="0"/>
              <a:t>facility</a:t>
            </a:r>
            <a:r>
              <a:rPr lang="ko-KR" altLang="en-US" sz="1600" smtClean="0"/>
              <a:t>가 발생하는 메시지 중에 </a:t>
            </a:r>
            <a:r>
              <a:rPr lang="en-US" altLang="ko-KR" sz="1600" dirty="0" err="1" smtClean="0"/>
              <a:t>crit</a:t>
            </a:r>
            <a:r>
              <a:rPr lang="en-US" altLang="ko-KR" sz="1600" dirty="0" smtClean="0"/>
              <a:t> </a:t>
            </a:r>
            <a:r>
              <a:rPr lang="ko-KR" altLang="en-US" sz="1600" smtClean="0"/>
              <a:t>수준의 메시지만 </a:t>
            </a: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var</a:t>
            </a:r>
            <a:r>
              <a:rPr lang="en-US" altLang="ko-KR" sz="1600" dirty="0" smtClean="0"/>
              <a:t>/log/critical</a:t>
            </a:r>
            <a:r>
              <a:rPr lang="ko-KR" altLang="en-US" sz="1600" smtClean="0"/>
              <a:t>에 기록</a:t>
            </a:r>
            <a:endParaRPr lang="en-US" altLang="ko-KR" sz="1600" dirty="0" smtClean="0"/>
          </a:p>
          <a:p>
            <a:pPr marL="355600" indent="-355600" algn="just" fontAlgn="base">
              <a:lnSpc>
                <a:spcPct val="120000"/>
              </a:lnSpc>
              <a:buNone/>
            </a:pPr>
            <a:r>
              <a:rPr lang="ko-KR" altLang="en-US" sz="1600" dirty="0" smtClean="0"/>
              <a:t> </a:t>
            </a:r>
            <a:r>
              <a:rPr lang="en-US" altLang="ko-KR" sz="1600" dirty="0"/>
              <a:t>→ </a:t>
            </a:r>
            <a:r>
              <a:rPr lang="ko-KR" altLang="en-US" sz="1600" smtClean="0"/>
              <a:t>커널이 </a:t>
            </a:r>
            <a:r>
              <a:rPr lang="ko-KR" altLang="en-US" sz="1600" dirty="0"/>
              <a:t>발생하는 </a:t>
            </a:r>
            <a:r>
              <a:rPr lang="ko-KR" altLang="en-US" sz="1600"/>
              <a:t>메시지는 </a:t>
            </a:r>
            <a:r>
              <a:rPr lang="ko-KR" altLang="en-US" sz="1600" smtClean="0"/>
              <a:t>제외</a:t>
            </a:r>
            <a:endParaRPr lang="en-US" altLang="ko-KR" sz="1600" dirty="0" smtClean="0"/>
          </a:p>
          <a:p>
            <a:pPr marL="0" indent="0" algn="just" fontAlgn="base">
              <a:lnSpc>
                <a:spcPct val="120000"/>
              </a:lnSpc>
              <a:buNone/>
            </a:pPr>
            <a:endParaRPr lang="en-US" altLang="ko-KR" sz="900" dirty="0" smtClean="0"/>
          </a:p>
          <a:p>
            <a:pPr marL="0" indent="0" algn="just" fontAlgn="base">
              <a:lnSpc>
                <a:spcPct val="120000"/>
              </a:lnSpc>
              <a:buNone/>
            </a:pPr>
            <a:endParaRPr lang="en-US" altLang="ko-KR" sz="900" dirty="0" smtClean="0"/>
          </a:p>
          <a:p>
            <a:pPr marL="0" indent="0" algn="just" fontAlgn="base">
              <a:lnSpc>
                <a:spcPct val="120000"/>
              </a:lnSpc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*.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emerg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ko-KR" sz="2200" dirty="0" smtClean="0"/>
              <a:t>*</a:t>
            </a:r>
          </a:p>
          <a:p>
            <a:pPr marL="355600" indent="-355600" algn="just" fontAlgn="base">
              <a:lnSpc>
                <a:spcPct val="120000"/>
              </a:lnSpc>
              <a:buNone/>
            </a:pPr>
            <a:r>
              <a:rPr lang="en-US" altLang="ko-KR" sz="1600" dirty="0" smtClean="0"/>
              <a:t> → </a:t>
            </a:r>
            <a:r>
              <a:rPr lang="ko-KR" altLang="en-US" sz="1600" smtClean="0"/>
              <a:t>모든 </a:t>
            </a:r>
            <a:r>
              <a:rPr lang="en-US" altLang="ko-KR" sz="1600" dirty="0" err="1" smtClean="0"/>
              <a:t>emerg</a:t>
            </a:r>
            <a:r>
              <a:rPr lang="en-US" altLang="ko-KR" sz="1600" dirty="0" smtClean="0"/>
              <a:t> </a:t>
            </a:r>
            <a:r>
              <a:rPr lang="ko-KR" altLang="en-US" sz="1600" smtClean="0"/>
              <a:t>수준 이상의 문제가 발생하면 모든 사용자에게 메시지를 전달</a:t>
            </a:r>
            <a:endParaRPr lang="en-US" altLang="ko-KR" sz="1600" dirty="0" smtClean="0"/>
          </a:p>
          <a:p>
            <a:pPr marL="355600" indent="-355600" algn="just" fontAlgn="base">
              <a:lnSpc>
                <a:spcPct val="120000"/>
              </a:lnSpc>
              <a:buNone/>
            </a:pPr>
            <a:endParaRPr lang="en-US" altLang="ko-KR" sz="900" dirty="0" smtClean="0"/>
          </a:p>
          <a:p>
            <a:pPr marL="355600" indent="-355600" algn="just" fontAlgn="base">
              <a:lnSpc>
                <a:spcPct val="120000"/>
              </a:lnSpc>
              <a:buNone/>
            </a:pPr>
            <a:endParaRPr lang="en-US" altLang="ko-KR" sz="900" dirty="0"/>
          </a:p>
          <a:p>
            <a:pPr marL="0" indent="0" algn="just" fontAlgn="base">
              <a:lnSpc>
                <a:spcPct val="120000"/>
              </a:lnSpc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authpriv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.*              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root,gildong</a:t>
            </a:r>
            <a:endParaRPr lang="en-US" altLang="ko-K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lnSpc>
                <a:spcPct val="120000"/>
              </a:lnSpc>
              <a:buNone/>
            </a:pPr>
            <a:r>
              <a:rPr lang="en-US" altLang="ko-KR" sz="1600" dirty="0" smtClean="0"/>
              <a:t> → </a:t>
            </a:r>
            <a:r>
              <a:rPr lang="ko-KR" altLang="en-US" sz="1600" smtClean="0"/>
              <a:t>인증 관련 로그를 </a:t>
            </a:r>
            <a:r>
              <a:rPr lang="en-US" altLang="ko-KR" sz="1600" dirty="0" smtClean="0"/>
              <a:t>root </a:t>
            </a:r>
            <a:r>
              <a:rPr lang="ko-KR" altLang="en-US" sz="1600" smtClean="0"/>
              <a:t>및 </a:t>
            </a:r>
            <a:r>
              <a:rPr lang="en-US" altLang="ko-KR" sz="1600" dirty="0" err="1" smtClean="0"/>
              <a:t>gildong</a:t>
            </a:r>
            <a:r>
              <a:rPr lang="en-US" altLang="ko-KR" sz="1600" dirty="0" smtClean="0"/>
              <a:t> </a:t>
            </a:r>
            <a:r>
              <a:rPr lang="ko-KR" altLang="en-US" sz="1600" smtClean="0"/>
              <a:t>사용자의 터미널로 전송</a:t>
            </a:r>
            <a:endParaRPr lang="en-US" altLang="ko-KR" sz="1600" dirty="0" smtClean="0"/>
          </a:p>
          <a:p>
            <a:pPr marL="0" indent="0" algn="just" fontAlgn="base">
              <a:lnSpc>
                <a:spcPct val="120000"/>
              </a:lnSpc>
              <a:buNone/>
            </a:pPr>
            <a:endParaRPr lang="en-US" altLang="ko-KR" sz="9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1D29-70A3-4759-9D6D-98753CD5BFD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72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834" y="673239"/>
            <a:ext cx="8102424" cy="4266313"/>
          </a:xfrm>
        </p:spPr>
        <p:txBody>
          <a:bodyPr>
            <a:normAutofit/>
          </a:bodyPr>
          <a:lstStyle/>
          <a:p>
            <a:pPr marL="0" indent="0" algn="just" fontAlgn="base">
              <a:lnSpc>
                <a:spcPct val="120000"/>
              </a:lnSpc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authpriv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.*              /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/tty2</a:t>
            </a:r>
          </a:p>
          <a:p>
            <a:pPr marL="0" indent="0" algn="just" fontAlgn="base">
              <a:lnSpc>
                <a:spcPct val="120000"/>
              </a:lnSpc>
              <a:buNone/>
            </a:pPr>
            <a:r>
              <a:rPr lang="en-US" altLang="ko-KR" sz="1600" dirty="0" smtClean="0"/>
              <a:t> → </a:t>
            </a:r>
            <a:r>
              <a:rPr lang="ko-KR" altLang="en-US" sz="1600" smtClean="0"/>
              <a:t>인증 관련 로그를 </a:t>
            </a: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dev</a:t>
            </a:r>
            <a:r>
              <a:rPr lang="en-US" altLang="ko-KR" sz="1600" dirty="0" smtClean="0"/>
              <a:t>/tty2 </a:t>
            </a:r>
            <a:r>
              <a:rPr lang="ko-KR" altLang="en-US" sz="1600" smtClean="0"/>
              <a:t>으로 전송</a:t>
            </a:r>
            <a:endParaRPr lang="en-US" altLang="ko-KR" sz="1600" dirty="0" smtClean="0"/>
          </a:p>
          <a:p>
            <a:pPr marL="0" indent="0" algn="just" fontAlgn="base">
              <a:lnSpc>
                <a:spcPct val="120000"/>
              </a:lnSpc>
              <a:buNone/>
            </a:pPr>
            <a:endParaRPr lang="en-US" altLang="ko-KR" sz="900" dirty="0" smtClean="0"/>
          </a:p>
          <a:p>
            <a:pPr marL="0" indent="0" algn="just" fontAlgn="base">
              <a:lnSpc>
                <a:spcPct val="120000"/>
              </a:lnSpc>
              <a:buNone/>
            </a:pPr>
            <a:endParaRPr lang="en-US" altLang="ko-KR" sz="900" dirty="0"/>
          </a:p>
          <a:p>
            <a:pPr marL="0" indent="0" algn="just" fontAlgn="base">
              <a:lnSpc>
                <a:spcPct val="120000"/>
              </a:lnSpc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mail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.*;mail.!=info         /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/log/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maillog</a:t>
            </a:r>
            <a:endParaRPr lang="en-US" altLang="ko-K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55600" algn="just" fontAlgn="base">
              <a:lnSpc>
                <a:spcPct val="120000"/>
              </a:lnSpc>
              <a:buNone/>
            </a:pPr>
            <a:r>
              <a:rPr lang="en-US" altLang="ko-KR" sz="1600" dirty="0"/>
              <a:t> → mail </a:t>
            </a:r>
            <a:r>
              <a:rPr lang="ko-KR" altLang="en-US" sz="1600" dirty="0"/>
              <a:t>관련한 모든 정보는 </a:t>
            </a:r>
            <a:r>
              <a:rPr lang="en-US" altLang="ko-KR" sz="1600" dirty="0"/>
              <a:t>/</a:t>
            </a:r>
            <a:r>
              <a:rPr lang="en-US" altLang="ko-KR" sz="1600" dirty="0" err="1"/>
              <a:t>var</a:t>
            </a:r>
            <a:r>
              <a:rPr lang="en-US" altLang="ko-KR" sz="1600" dirty="0"/>
              <a:t>/log/</a:t>
            </a:r>
            <a:r>
              <a:rPr lang="en-US" altLang="ko-KR" sz="1600" dirty="0" err="1"/>
              <a:t>maillog</a:t>
            </a:r>
            <a:r>
              <a:rPr lang="ko-KR" altLang="en-US" sz="1600" dirty="0"/>
              <a:t>에 기록하는데</a:t>
            </a:r>
            <a:r>
              <a:rPr lang="en-US" altLang="ko-KR" sz="1600" dirty="0"/>
              <a:t>, info </a:t>
            </a:r>
            <a:r>
              <a:rPr lang="ko-KR" altLang="en-US" sz="1600" dirty="0"/>
              <a:t>수준의 </a:t>
            </a:r>
            <a:r>
              <a:rPr lang="ko-KR" altLang="en-US" sz="1600"/>
              <a:t>로그는 </a:t>
            </a:r>
            <a:r>
              <a:rPr lang="ko-KR" altLang="en-US" sz="1600" smtClean="0"/>
              <a:t>제외</a:t>
            </a:r>
            <a:endParaRPr lang="en-US" altLang="ko-KR" sz="1600" dirty="0" smtClean="0"/>
          </a:p>
          <a:p>
            <a:pPr marL="355600" indent="-355600" algn="just" fontAlgn="base">
              <a:lnSpc>
                <a:spcPct val="120000"/>
              </a:lnSpc>
              <a:buNone/>
            </a:pPr>
            <a:endParaRPr lang="en-US" altLang="ko-KR" sz="900" dirty="0" smtClean="0"/>
          </a:p>
          <a:p>
            <a:pPr marL="355600" indent="-355600" algn="just" fontAlgn="base">
              <a:lnSpc>
                <a:spcPct val="120000"/>
              </a:lnSpc>
              <a:buNone/>
            </a:pPr>
            <a:endParaRPr lang="en-US" altLang="ko-KR" sz="900" dirty="0"/>
          </a:p>
          <a:p>
            <a:pPr marL="0" indent="0" algn="just" fontAlgn="base">
              <a:lnSpc>
                <a:spcPct val="120000"/>
              </a:lnSpc>
              <a:buNone/>
            </a:pP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uucp,news.crit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/log/news</a:t>
            </a:r>
          </a:p>
          <a:p>
            <a:pPr marL="355600" indent="-355600" algn="just" fontAlgn="base">
              <a:lnSpc>
                <a:spcPct val="120000"/>
              </a:lnSpc>
              <a:buNone/>
            </a:pPr>
            <a:r>
              <a:rPr lang="en-US" altLang="ko-KR" sz="1600" dirty="0" smtClean="0"/>
              <a:t> → </a:t>
            </a:r>
            <a:r>
              <a:rPr lang="en-US" altLang="ko-KR" sz="1600" dirty="0" err="1" smtClean="0"/>
              <a:t>uucp</a:t>
            </a:r>
            <a:r>
              <a:rPr lang="en-US" altLang="ko-KR" sz="1600" dirty="0" smtClean="0"/>
              <a:t> </a:t>
            </a:r>
            <a:r>
              <a:rPr lang="ko-KR" altLang="en-US" sz="1600" smtClean="0"/>
              <a:t>및 </a:t>
            </a:r>
            <a:r>
              <a:rPr lang="en-US" altLang="ko-KR" sz="1600" dirty="0" smtClean="0"/>
              <a:t>news</a:t>
            </a:r>
            <a:r>
              <a:rPr lang="ko-KR" altLang="en-US" sz="1600" smtClean="0"/>
              <a:t>에서 발생하는 </a:t>
            </a:r>
            <a:r>
              <a:rPr lang="en-US" altLang="ko-KR" sz="1600" dirty="0" err="1" smtClean="0"/>
              <a:t>crit</a:t>
            </a:r>
            <a:r>
              <a:rPr lang="en-US" altLang="ko-KR" sz="1600" dirty="0" smtClean="0"/>
              <a:t> </a:t>
            </a:r>
            <a:r>
              <a:rPr lang="ko-KR" altLang="en-US" sz="1600" smtClean="0"/>
              <a:t>수준 이상의 메시지는 </a:t>
            </a: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var</a:t>
            </a:r>
            <a:r>
              <a:rPr lang="en-US" altLang="ko-KR" sz="1600" dirty="0" smtClean="0"/>
              <a:t>/log/news</a:t>
            </a:r>
            <a:r>
              <a:rPr lang="ko-KR" altLang="en-US" sz="1600" smtClean="0"/>
              <a:t>에 기록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1D29-70A3-4759-9D6D-98753CD5BFDD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46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직선 연결선 84"/>
          <p:cNvCxnSpPr/>
          <p:nvPr/>
        </p:nvCxnSpPr>
        <p:spPr>
          <a:xfrm flipH="1">
            <a:off x="5192019" y="1645712"/>
            <a:ext cx="1" cy="131690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/>
          <p:cNvCxnSpPr/>
          <p:nvPr/>
        </p:nvCxnSpPr>
        <p:spPr>
          <a:xfrm>
            <a:off x="4680256" y="3288883"/>
            <a:ext cx="4944" cy="177319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자유형 4"/>
          <p:cNvSpPr/>
          <p:nvPr/>
        </p:nvSpPr>
        <p:spPr>
          <a:xfrm>
            <a:off x="1098300" y="3117078"/>
            <a:ext cx="7035639" cy="2046255"/>
          </a:xfrm>
          <a:custGeom>
            <a:avLst/>
            <a:gdLst>
              <a:gd name="connsiteX0" fmla="*/ 14515 w 5239658"/>
              <a:gd name="connsiteY0" fmla="*/ 1843314 h 1843314"/>
              <a:gd name="connsiteX1" fmla="*/ 0 w 5239658"/>
              <a:gd name="connsiteY1" fmla="*/ 43543 h 1843314"/>
              <a:gd name="connsiteX2" fmla="*/ 5239658 w 5239658"/>
              <a:gd name="connsiteY2" fmla="*/ 0 h 1843314"/>
              <a:gd name="connsiteX3" fmla="*/ 5239658 w 5239658"/>
              <a:gd name="connsiteY3" fmla="*/ 1770743 h 1843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9658" h="1843314">
                <a:moveTo>
                  <a:pt x="14515" y="1843314"/>
                </a:moveTo>
                <a:lnTo>
                  <a:pt x="0" y="43543"/>
                </a:lnTo>
                <a:lnTo>
                  <a:pt x="5239658" y="0"/>
                </a:lnTo>
                <a:lnTo>
                  <a:pt x="5239658" y="1770743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flipH="1">
            <a:off x="7167418" y="4664926"/>
            <a:ext cx="1099738" cy="1110404"/>
            <a:chOff x="7543946" y="573868"/>
            <a:chExt cx="838200" cy="992275"/>
          </a:xfrm>
        </p:grpSpPr>
        <p:sp>
          <p:nvSpPr>
            <p:cNvPr id="7" name="Freeform 174"/>
            <p:cNvSpPr>
              <a:spLocks/>
            </p:cNvSpPr>
            <p:nvPr/>
          </p:nvSpPr>
          <p:spPr bwMode="auto">
            <a:xfrm rot="355818">
              <a:off x="8185296" y="1240618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 rot="355818" flipH="1">
              <a:off x="8245621" y="1288243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Freeform 176"/>
            <p:cNvSpPr>
              <a:spLocks/>
            </p:cNvSpPr>
            <p:nvPr/>
          </p:nvSpPr>
          <p:spPr bwMode="auto">
            <a:xfrm rot="355818">
              <a:off x="8239271" y="1316818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 177"/>
            <p:cNvSpPr>
              <a:spLocks/>
            </p:cNvSpPr>
            <p:nvPr/>
          </p:nvSpPr>
          <p:spPr bwMode="auto">
            <a:xfrm rot="355818" flipH="1">
              <a:off x="8272609" y="1283480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78"/>
            <p:cNvSpPr>
              <a:spLocks/>
            </p:cNvSpPr>
            <p:nvPr/>
          </p:nvSpPr>
          <p:spPr bwMode="auto">
            <a:xfrm rot="355818">
              <a:off x="8258321" y="1281893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val 179"/>
            <p:cNvSpPr>
              <a:spLocks noChangeArrowheads="1"/>
            </p:cNvSpPr>
            <p:nvPr/>
          </p:nvSpPr>
          <p:spPr bwMode="auto">
            <a:xfrm rot="21219751">
              <a:off x="8277371" y="1278718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reeform 180"/>
            <p:cNvSpPr>
              <a:spLocks/>
            </p:cNvSpPr>
            <p:nvPr/>
          </p:nvSpPr>
          <p:spPr bwMode="auto">
            <a:xfrm rot="355818">
              <a:off x="8248796" y="1285068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182"/>
            <p:cNvSpPr>
              <a:spLocks/>
            </p:cNvSpPr>
            <p:nvPr/>
          </p:nvSpPr>
          <p:spPr bwMode="auto">
            <a:xfrm flipH="1">
              <a:off x="7820661" y="1269106"/>
              <a:ext cx="140799" cy="297037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183"/>
            <p:cNvSpPr>
              <a:spLocks/>
            </p:cNvSpPr>
            <p:nvPr/>
          </p:nvSpPr>
          <p:spPr bwMode="auto">
            <a:xfrm flipH="1">
              <a:off x="7834948" y="1254818"/>
              <a:ext cx="140799" cy="297037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Freeform 184"/>
            <p:cNvSpPr>
              <a:spLocks/>
            </p:cNvSpPr>
            <p:nvPr/>
          </p:nvSpPr>
          <p:spPr bwMode="auto">
            <a:xfrm flipH="1">
              <a:off x="7809059" y="1315230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85"/>
            <p:cNvSpPr>
              <a:spLocks/>
            </p:cNvSpPr>
            <p:nvPr/>
          </p:nvSpPr>
          <p:spPr bwMode="auto">
            <a:xfrm flipH="1">
              <a:off x="7896371" y="1337455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86"/>
            <p:cNvSpPr>
              <a:spLocks/>
            </p:cNvSpPr>
            <p:nvPr/>
          </p:nvSpPr>
          <p:spPr bwMode="auto">
            <a:xfrm flipH="1">
              <a:off x="7829696" y="1400955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87"/>
            <p:cNvSpPr>
              <a:spLocks/>
            </p:cNvSpPr>
            <p:nvPr/>
          </p:nvSpPr>
          <p:spPr bwMode="auto">
            <a:xfrm flipH="1">
              <a:off x="7764609" y="1412068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Freeform 189"/>
            <p:cNvSpPr>
              <a:spLocks noChangeAspect="1"/>
            </p:cNvSpPr>
            <p:nvPr/>
          </p:nvSpPr>
          <p:spPr bwMode="auto">
            <a:xfrm>
              <a:off x="7543946" y="1010430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 190"/>
            <p:cNvSpPr>
              <a:spLocks noChangeAspect="1"/>
            </p:cNvSpPr>
            <p:nvPr/>
          </p:nvSpPr>
          <p:spPr bwMode="auto">
            <a:xfrm>
              <a:off x="7556647" y="950742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 191"/>
            <p:cNvSpPr>
              <a:spLocks/>
            </p:cNvSpPr>
            <p:nvPr/>
          </p:nvSpPr>
          <p:spPr bwMode="auto">
            <a:xfrm>
              <a:off x="7682059" y="1146955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 192"/>
            <p:cNvSpPr>
              <a:spLocks/>
            </p:cNvSpPr>
            <p:nvPr/>
          </p:nvSpPr>
          <p:spPr bwMode="auto">
            <a:xfrm>
              <a:off x="7701109" y="1275543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Oval 193"/>
            <p:cNvSpPr>
              <a:spLocks noChangeArrowheads="1"/>
            </p:cNvSpPr>
            <p:nvPr/>
          </p:nvSpPr>
          <p:spPr bwMode="auto">
            <a:xfrm>
              <a:off x="7820171" y="1283480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Line 194"/>
            <p:cNvSpPr>
              <a:spLocks noChangeShapeType="1"/>
            </p:cNvSpPr>
            <p:nvPr/>
          </p:nvSpPr>
          <p:spPr bwMode="auto">
            <a:xfrm flipH="1">
              <a:off x="8042421" y="1192993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Line 195"/>
            <p:cNvSpPr>
              <a:spLocks noChangeShapeType="1"/>
            </p:cNvSpPr>
            <p:nvPr/>
          </p:nvSpPr>
          <p:spPr bwMode="auto">
            <a:xfrm flipH="1">
              <a:off x="8031309" y="1194580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Line 196"/>
            <p:cNvSpPr>
              <a:spLocks noChangeShapeType="1"/>
            </p:cNvSpPr>
            <p:nvPr/>
          </p:nvSpPr>
          <p:spPr bwMode="auto">
            <a:xfrm flipH="1">
              <a:off x="8055121" y="1191405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Line 197"/>
            <p:cNvSpPr>
              <a:spLocks noChangeShapeType="1"/>
            </p:cNvSpPr>
            <p:nvPr/>
          </p:nvSpPr>
          <p:spPr bwMode="auto">
            <a:xfrm flipH="1">
              <a:off x="8066234" y="1189818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Line 198"/>
            <p:cNvSpPr>
              <a:spLocks noChangeShapeType="1"/>
            </p:cNvSpPr>
            <p:nvPr/>
          </p:nvSpPr>
          <p:spPr bwMode="auto">
            <a:xfrm flipH="1">
              <a:off x="8075759" y="1188230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Line 199"/>
            <p:cNvSpPr>
              <a:spLocks noChangeShapeType="1"/>
            </p:cNvSpPr>
            <p:nvPr/>
          </p:nvSpPr>
          <p:spPr bwMode="auto">
            <a:xfrm flipH="1">
              <a:off x="8086871" y="1185055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Line 200"/>
            <p:cNvSpPr>
              <a:spLocks noChangeShapeType="1"/>
            </p:cNvSpPr>
            <p:nvPr/>
          </p:nvSpPr>
          <p:spPr bwMode="auto">
            <a:xfrm flipH="1">
              <a:off x="8097984" y="1185055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Line 201"/>
            <p:cNvSpPr>
              <a:spLocks noChangeShapeType="1"/>
            </p:cNvSpPr>
            <p:nvPr/>
          </p:nvSpPr>
          <p:spPr bwMode="auto">
            <a:xfrm flipH="1">
              <a:off x="8107509" y="1178705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Line 202"/>
            <p:cNvSpPr>
              <a:spLocks noChangeShapeType="1"/>
            </p:cNvSpPr>
            <p:nvPr/>
          </p:nvSpPr>
          <p:spPr bwMode="auto">
            <a:xfrm flipH="1">
              <a:off x="8117034" y="1178705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Line 203"/>
            <p:cNvSpPr>
              <a:spLocks noChangeShapeType="1"/>
            </p:cNvSpPr>
            <p:nvPr/>
          </p:nvSpPr>
          <p:spPr bwMode="auto">
            <a:xfrm flipH="1">
              <a:off x="8128146" y="1177118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Line 204"/>
            <p:cNvSpPr>
              <a:spLocks noChangeShapeType="1"/>
            </p:cNvSpPr>
            <p:nvPr/>
          </p:nvSpPr>
          <p:spPr bwMode="auto">
            <a:xfrm flipH="1">
              <a:off x="8139259" y="1175530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Freeform 205"/>
            <p:cNvSpPr>
              <a:spLocks/>
            </p:cNvSpPr>
            <p:nvPr/>
          </p:nvSpPr>
          <p:spPr bwMode="auto">
            <a:xfrm>
              <a:off x="7888434" y="1224743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Line 206"/>
            <p:cNvSpPr>
              <a:spLocks noChangeShapeType="1"/>
            </p:cNvSpPr>
            <p:nvPr/>
          </p:nvSpPr>
          <p:spPr bwMode="auto">
            <a:xfrm flipH="1">
              <a:off x="7899546" y="1259668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Line 207"/>
            <p:cNvSpPr>
              <a:spLocks noChangeShapeType="1"/>
            </p:cNvSpPr>
            <p:nvPr/>
          </p:nvSpPr>
          <p:spPr bwMode="auto">
            <a:xfrm flipH="1">
              <a:off x="7961459" y="1245380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Line 208"/>
            <p:cNvSpPr>
              <a:spLocks noChangeShapeType="1"/>
            </p:cNvSpPr>
            <p:nvPr/>
          </p:nvSpPr>
          <p:spPr bwMode="auto">
            <a:xfrm flipH="1">
              <a:off x="7953521" y="1254905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Line 209"/>
            <p:cNvSpPr>
              <a:spLocks noChangeShapeType="1"/>
            </p:cNvSpPr>
            <p:nvPr/>
          </p:nvSpPr>
          <p:spPr bwMode="auto">
            <a:xfrm flipH="1">
              <a:off x="7909071" y="1267605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Line 210"/>
            <p:cNvSpPr>
              <a:spLocks noChangeShapeType="1"/>
            </p:cNvSpPr>
            <p:nvPr/>
          </p:nvSpPr>
          <p:spPr bwMode="auto">
            <a:xfrm flipV="1">
              <a:off x="7918596" y="1269193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Freeform 211"/>
            <p:cNvSpPr>
              <a:spLocks/>
            </p:cNvSpPr>
            <p:nvPr/>
          </p:nvSpPr>
          <p:spPr bwMode="auto">
            <a:xfrm>
              <a:off x="7724921" y="1239030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Line 212"/>
            <p:cNvSpPr>
              <a:spLocks noChangeShapeType="1"/>
            </p:cNvSpPr>
            <p:nvPr/>
          </p:nvSpPr>
          <p:spPr bwMode="auto">
            <a:xfrm flipV="1">
              <a:off x="7716984" y="1245380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150"/>
            <p:cNvGrpSpPr>
              <a:grpSpLocks/>
            </p:cNvGrpSpPr>
            <p:nvPr/>
          </p:nvGrpSpPr>
          <p:grpSpPr bwMode="auto">
            <a:xfrm>
              <a:off x="7609034" y="631018"/>
              <a:ext cx="328612" cy="369887"/>
              <a:chOff x="685" y="3115"/>
              <a:chExt cx="207" cy="233"/>
            </a:xfrm>
          </p:grpSpPr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5" name="Oval 217"/>
            <p:cNvSpPr>
              <a:spLocks noChangeArrowheads="1"/>
            </p:cNvSpPr>
            <p:nvPr/>
          </p:nvSpPr>
          <p:spPr bwMode="auto">
            <a:xfrm>
              <a:off x="7693171" y="1029480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218"/>
            <p:cNvSpPr>
              <a:spLocks noChangeArrowheads="1"/>
            </p:cNvSpPr>
            <p:nvPr/>
          </p:nvSpPr>
          <p:spPr bwMode="auto">
            <a:xfrm>
              <a:off x="7693171" y="1023130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 flipH="1">
              <a:off x="7674121" y="575455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 flipH="1">
              <a:off x="7732859" y="989793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Freeform 221"/>
            <p:cNvSpPr>
              <a:spLocks/>
            </p:cNvSpPr>
            <p:nvPr/>
          </p:nvSpPr>
          <p:spPr bwMode="auto">
            <a:xfrm flipH="1">
              <a:off x="7661421" y="634193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222"/>
            <p:cNvSpPr>
              <a:spLocks noChangeArrowheads="1"/>
            </p:cNvSpPr>
            <p:nvPr/>
          </p:nvSpPr>
          <p:spPr bwMode="auto">
            <a:xfrm>
              <a:off x="8059884" y="997730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Oval 223"/>
            <p:cNvSpPr>
              <a:spLocks noChangeArrowheads="1"/>
            </p:cNvSpPr>
            <p:nvPr/>
          </p:nvSpPr>
          <p:spPr bwMode="auto">
            <a:xfrm>
              <a:off x="8036071" y="1004080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Oval 224"/>
            <p:cNvSpPr>
              <a:spLocks noChangeArrowheads="1"/>
            </p:cNvSpPr>
            <p:nvPr/>
          </p:nvSpPr>
          <p:spPr bwMode="auto">
            <a:xfrm>
              <a:off x="7953521" y="1024718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Oval 225"/>
            <p:cNvSpPr>
              <a:spLocks noChangeArrowheads="1"/>
            </p:cNvSpPr>
            <p:nvPr/>
          </p:nvSpPr>
          <p:spPr bwMode="auto">
            <a:xfrm>
              <a:off x="7928121" y="1029480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Oval 226"/>
            <p:cNvSpPr>
              <a:spLocks noChangeArrowheads="1"/>
            </p:cNvSpPr>
            <p:nvPr/>
          </p:nvSpPr>
          <p:spPr bwMode="auto">
            <a:xfrm>
              <a:off x="7899546" y="1034243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Freeform 227"/>
            <p:cNvSpPr>
              <a:spLocks/>
            </p:cNvSpPr>
            <p:nvPr/>
          </p:nvSpPr>
          <p:spPr bwMode="auto">
            <a:xfrm flipH="1">
              <a:off x="7715396" y="626255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Freeform 228"/>
            <p:cNvSpPr>
              <a:spLocks/>
            </p:cNvSpPr>
            <p:nvPr/>
          </p:nvSpPr>
          <p:spPr bwMode="auto">
            <a:xfrm flipH="1">
              <a:off x="7661421" y="573868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0" name="AutoShape 26"/>
          <p:cNvSpPr>
            <a:spLocks noChangeArrowheads="1"/>
          </p:cNvSpPr>
          <p:nvPr/>
        </p:nvSpPr>
        <p:spPr bwMode="auto">
          <a:xfrm>
            <a:off x="3872445" y="2915725"/>
            <a:ext cx="1618380" cy="476536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ko-KR" altLang="en-US" sz="1800" b="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WordArt 28"/>
          <p:cNvSpPr>
            <a:spLocks noChangeArrowheads="1" noChangeShapeType="1" noTextEdit="1"/>
          </p:cNvSpPr>
          <p:nvPr/>
        </p:nvSpPr>
        <p:spPr bwMode="auto">
          <a:xfrm>
            <a:off x="4001050" y="3204879"/>
            <a:ext cx="1085792" cy="1680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3600" kern="10" dirty="0" smtClean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HUB/NAT</a:t>
            </a:r>
            <a:endParaRPr lang="ko-KR" altLang="en-US" sz="3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80566" y="4402026"/>
            <a:ext cx="1541777" cy="1461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Text Box 142"/>
          <p:cNvSpPr txBox="1">
            <a:spLocks noChangeArrowheads="1"/>
          </p:cNvSpPr>
          <p:nvPr/>
        </p:nvSpPr>
        <p:spPr bwMode="auto">
          <a:xfrm>
            <a:off x="442489" y="5775330"/>
            <a:ext cx="233849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ZeekIDS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(Ubuntu)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192.168.10.20/24</a:t>
            </a:r>
          </a:p>
        </p:txBody>
      </p:sp>
      <p:pic>
        <p:nvPicPr>
          <p:cNvPr id="67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828721" y="4268357"/>
            <a:ext cx="1613029" cy="152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Text Box 142"/>
          <p:cNvSpPr txBox="1">
            <a:spLocks noChangeArrowheads="1"/>
          </p:cNvSpPr>
          <p:nvPr/>
        </p:nvSpPr>
        <p:spPr bwMode="auto">
          <a:xfrm>
            <a:off x="5284122" y="1610397"/>
            <a:ext cx="327156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SplunkServer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(Ubuntu)</a:t>
            </a:r>
          </a:p>
          <a:p>
            <a:pPr>
              <a:defRPr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192.168.10.10/24</a:t>
            </a:r>
          </a:p>
          <a:p>
            <a:pPr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Box 142"/>
          <p:cNvSpPr txBox="1">
            <a:spLocks noChangeArrowheads="1"/>
          </p:cNvSpPr>
          <p:nvPr/>
        </p:nvSpPr>
        <p:spPr bwMode="auto">
          <a:xfrm>
            <a:off x="6888191" y="5770812"/>
            <a:ext cx="166725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Sysmon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(Win10)</a:t>
            </a:r>
          </a:p>
          <a:p>
            <a:pPr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192.168.10.40/24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Box 142"/>
          <p:cNvSpPr txBox="1">
            <a:spLocks noChangeArrowheads="1"/>
          </p:cNvSpPr>
          <p:nvPr/>
        </p:nvSpPr>
        <p:spPr bwMode="auto">
          <a:xfrm>
            <a:off x="3804117" y="5768095"/>
            <a:ext cx="18802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WebServer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CentOS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192.168.10.30/24  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슬라이드 번호 개체 틀 101"/>
          <p:cNvSpPr>
            <a:spLocks noGrp="1"/>
          </p:cNvSpPr>
          <p:nvPr>
            <p:ph type="sldNum" sz="quarter" idx="12"/>
          </p:nvPr>
        </p:nvSpPr>
        <p:spPr>
          <a:xfrm>
            <a:off x="6863545" y="6260691"/>
            <a:ext cx="2057400" cy="365125"/>
          </a:xfrm>
        </p:spPr>
        <p:txBody>
          <a:bodyPr/>
          <a:lstStyle/>
          <a:p>
            <a:fld id="{39952D2E-F142-4F08-8A6B-C0F347A8400D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68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955" y="385481"/>
            <a:ext cx="1614813" cy="152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TextBox 73"/>
          <p:cNvSpPr txBox="1"/>
          <p:nvPr/>
        </p:nvSpPr>
        <p:spPr>
          <a:xfrm>
            <a:off x="3444731" y="941045"/>
            <a:ext cx="1506645" cy="3231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 err="1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rsyslog</a:t>
            </a:r>
            <a:r>
              <a:rPr lang="en-US" altLang="ko-KR" sz="1500" b="1" dirty="0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server</a:t>
            </a:r>
            <a:endParaRPr lang="ko-KR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347623" y="4703827"/>
            <a:ext cx="1326255" cy="3260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 err="1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rsyslog</a:t>
            </a:r>
            <a:r>
              <a:rPr lang="en-US" altLang="ko-KR" sz="1500" b="1" dirty="0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client</a:t>
            </a:r>
            <a:endParaRPr lang="ko-KR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590233" y="4590215"/>
            <a:ext cx="1326255" cy="3260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 err="1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rsyslog</a:t>
            </a:r>
            <a:r>
              <a:rPr lang="en-US" altLang="ko-KR" sz="1500" b="1" dirty="0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agent</a:t>
            </a:r>
            <a:endParaRPr lang="ko-KR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635235" y="4639206"/>
            <a:ext cx="1326255" cy="3260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 err="1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rsyslog</a:t>
            </a:r>
            <a:r>
              <a:rPr lang="en-US" altLang="ko-KR" sz="1500" b="1" dirty="0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client</a:t>
            </a:r>
            <a:endParaRPr lang="ko-KR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77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6370" y="267348"/>
            <a:ext cx="7886700" cy="73002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Splunk</a:t>
            </a:r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ko-KR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server installation</a:t>
            </a:r>
            <a:endParaRPr lang="ko-KR" alt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45608" y="1458495"/>
            <a:ext cx="8398392" cy="221836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4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#apt-get install –y </a:t>
            </a:r>
            <a:r>
              <a:rPr lang="en-US" altLang="ko-KR" sz="24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sz="24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nano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/</a:t>
            </a:r>
            <a:r>
              <a:rPr lang="en-US" altLang="ko-KR" sz="24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etc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24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rsyslog.config</a:t>
            </a: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#</a:t>
            </a:r>
            <a:r>
              <a:rPr lang="en-US" altLang="ko-KR" sz="24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ufw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allow 514/</a:t>
            </a:r>
            <a:r>
              <a:rPr lang="en-US" altLang="ko-KR" sz="24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tcp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#</a:t>
            </a:r>
            <a:r>
              <a:rPr lang="en-US" altLang="ko-KR" sz="24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ufw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reload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#</a:t>
            </a:r>
            <a:r>
              <a:rPr lang="en-US" altLang="ko-KR" sz="24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systemctl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restart </a:t>
            </a:r>
            <a:r>
              <a:rPr lang="en-US" altLang="ko-KR" sz="24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05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91" y="1652842"/>
            <a:ext cx="7698058" cy="1993471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504854" y="171201"/>
            <a:ext cx="8398392" cy="221836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</a:t>
            </a:r>
            <a:r>
              <a:rPr lang="en-US" altLang="ko-KR" sz="2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#apt-get install –y 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nano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/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etc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rsyslog.config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93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09" y="1568222"/>
            <a:ext cx="6400800" cy="4105275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504854" y="171201"/>
            <a:ext cx="8398392" cy="221836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❷ 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nano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/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etc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rsyslog.config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43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94" y="1209322"/>
            <a:ext cx="7097183" cy="2707529"/>
          </a:xfrm>
          <a:prstGeom prst="rect">
            <a:avLst/>
          </a:prstGeom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504854" y="171201"/>
            <a:ext cx="8398392" cy="221836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❷ 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nano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/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etc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rsyslog.config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658834" y="4284368"/>
            <a:ext cx="8485166" cy="670604"/>
            <a:chOff x="436601" y="4830754"/>
            <a:chExt cx="8485166" cy="670604"/>
          </a:xfrm>
        </p:grpSpPr>
        <p:sp>
          <p:nvSpPr>
            <p:cNvPr id="8" name="직사각형 7"/>
            <p:cNvSpPr/>
            <p:nvPr/>
          </p:nvSpPr>
          <p:spPr>
            <a:xfrm>
              <a:off x="436601" y="4830754"/>
              <a:ext cx="848516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b="0" i="1" dirty="0" smtClean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$template remote-incoming-logs,"/</a:t>
              </a:r>
              <a:r>
                <a:rPr lang="en-US" altLang="ko-KR" b="0" i="1" dirty="0" err="1" smtClean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var</a:t>
              </a:r>
              <a:r>
                <a:rPr lang="en-US" altLang="ko-KR" b="0" i="1" dirty="0" smtClean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/log</a:t>
              </a:r>
              <a:r>
                <a:rPr lang="en-US" altLang="ko-KR" b="0" i="1" dirty="0" smtClean="0">
                  <a:solidFill>
                    <a:schemeClr val="accent5">
                      <a:lumMod val="75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/%HOSTNAME%</a:t>
              </a:r>
              <a:r>
                <a:rPr lang="en-US" altLang="ko-KR" b="0" i="1" dirty="0" smtClean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b="0" i="1" dirty="0" smtClean="0">
                  <a:solidFill>
                    <a:schemeClr val="accent5">
                      <a:lumMod val="75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%PROGRAMNAME%</a:t>
              </a:r>
              <a:r>
                <a:rPr lang="en-US" altLang="ko-KR" b="0" i="1" dirty="0" smtClean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.log" *.* ?remote-incoming-logs</a:t>
              </a:r>
              <a:endParaRPr lang="ko-KR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4444409" y="5153919"/>
              <a:ext cx="156298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>
            <a:xfrm>
              <a:off x="6135651" y="5153919"/>
              <a:ext cx="21008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4444409" y="5193581"/>
              <a:ext cx="15824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 smtClean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클라이언트호스트</a:t>
              </a:r>
              <a:endParaRPr lang="ko-KR" altLang="en-US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94846" y="5169308"/>
              <a:ext cx="17459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 smtClean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생성된 로그 파일명 </a:t>
              </a:r>
              <a:endParaRPr lang="ko-KR" altLang="en-US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47" y="5293525"/>
            <a:ext cx="6972830" cy="62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9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061" y="2206320"/>
            <a:ext cx="5369075" cy="3763776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812216" y="495649"/>
            <a:ext cx="4572000" cy="14260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spcBef>
                <a:spcPts val="1000"/>
              </a:spcBef>
            </a:pPr>
            <a:r>
              <a:rPr lang="en-US" altLang="ko-KR" sz="2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</a:t>
            </a:r>
            <a:r>
              <a:rPr lang="en-US" altLang="ko-KR" sz="2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방화벽 활성화 </a:t>
            </a:r>
            <a:endParaRPr lang="en-US" altLang="ko-KR" sz="22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0">
              <a:spcBef>
                <a:spcPts val="1000"/>
              </a:spcBef>
            </a:pPr>
            <a:r>
              <a:rPr lang="en-US" altLang="ko-KR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#</a:t>
            </a:r>
            <a:r>
              <a:rPr lang="en-US" altLang="ko-KR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ufw</a:t>
            </a:r>
            <a:r>
              <a:rPr lang="en-US" altLang="ko-KR" sz="2400" dirty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allow 514/</a:t>
            </a:r>
            <a:r>
              <a:rPr lang="en-US" altLang="ko-KR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tcp</a:t>
            </a:r>
            <a:r>
              <a:rPr lang="en-US" altLang="ko-KR" sz="2400" dirty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  <a:p>
            <a:pPr lvl="0">
              <a:spcBef>
                <a:spcPts val="1000"/>
              </a:spcBef>
            </a:pPr>
            <a:r>
              <a:rPr lang="en-US" altLang="ko-KR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#</a:t>
            </a:r>
            <a:r>
              <a:rPr lang="en-US" altLang="ko-KR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ufw</a:t>
            </a:r>
            <a:r>
              <a:rPr lang="en-US" altLang="ko-KR" sz="2400" dirty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reload</a:t>
            </a:r>
          </a:p>
        </p:txBody>
      </p:sp>
    </p:spTree>
    <p:extLst>
      <p:ext uri="{BB962C8B-B14F-4D97-AF65-F5344CB8AC3E}">
        <p14:creationId xmlns:p14="http://schemas.microsoft.com/office/powerpoint/2010/main" val="390949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0010"/>
            <a:ext cx="9144000" cy="362902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438924" y="388246"/>
            <a:ext cx="3047629" cy="1985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 smtClean="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서비스 활성화 </a:t>
            </a:r>
            <a:endParaRPr lang="en-US" altLang="ko-KR" sz="2400" dirty="0" smtClean="0">
              <a:solidFill>
                <a:prstClr val="black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#</a:t>
            </a:r>
            <a:r>
              <a:rPr lang="en-US" altLang="ko-KR" sz="2000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systemctl</a:t>
            </a:r>
            <a:r>
              <a:rPr lang="en-US" altLang="ko-KR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restart </a:t>
            </a:r>
            <a:r>
              <a:rPr lang="en-US" altLang="ko-KR" sz="2000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endParaRPr lang="en-US" altLang="ko-KR" sz="2000" dirty="0" smtClean="0">
              <a:solidFill>
                <a:prstClr val="black"/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#</a:t>
            </a:r>
            <a:r>
              <a:rPr lang="en-US" altLang="ko-KR" sz="2000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systemctl</a:t>
            </a:r>
            <a:r>
              <a:rPr lang="en-US" altLang="ko-KR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status </a:t>
            </a:r>
            <a:r>
              <a:rPr lang="en-US" altLang="ko-KR" sz="2000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r>
              <a:rPr lang="en-US" altLang="ko-KR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en-US" altLang="ko-KR" sz="2000" dirty="0">
              <a:solidFill>
                <a:prstClr val="black"/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 smtClean="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21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76" y="1659112"/>
            <a:ext cx="8458024" cy="80653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76" y="2781475"/>
            <a:ext cx="8810625" cy="294322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38924" y="388246"/>
            <a:ext cx="429636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 smtClean="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 </a:t>
            </a:r>
            <a:r>
              <a:rPr lang="ko-KR" altLang="en-US" sz="2000" dirty="0" smtClean="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생성된 로그 디렉터리와 로그 확인</a:t>
            </a:r>
            <a:endParaRPr lang="en-US" altLang="ko-KR" sz="2000" dirty="0" smtClean="0">
              <a:solidFill>
                <a:prstClr val="black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en-US" altLang="ko-KR" sz="2000" dirty="0">
              <a:solidFill>
                <a:prstClr val="black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sz="2000" dirty="0" smtClean="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</a:t>
            </a:r>
            <a:r>
              <a:rPr lang="en-US" altLang="ko-KR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#cd /</a:t>
            </a:r>
            <a:r>
              <a:rPr lang="en-US" altLang="ko-KR" sz="2000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var</a:t>
            </a:r>
            <a:r>
              <a:rPr lang="en-US" altLang="ko-KR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/log/192.168.10.0</a:t>
            </a:r>
            <a:r>
              <a:rPr lang="ko-KR" altLang="en-US" sz="2000" dirty="0" smtClean="0">
                <a:solidFill>
                  <a:prstClr val="black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34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80" y="360383"/>
            <a:ext cx="7886700" cy="73002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[Ubuntu-</a:t>
            </a:r>
            <a:r>
              <a:rPr lang="en-US" altLang="ko-K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ko-KR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client installation </a:t>
            </a:r>
            <a:endParaRPr lang="ko-KR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349826" y="1388694"/>
            <a:ext cx="8398392" cy="472502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</a:t>
            </a:r>
            <a:r>
              <a:rPr lang="en-US" altLang="ko-KR" sz="2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#apt-get install –y 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nano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/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etc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rsyslog.conf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시스템에서 발생하는 모든 종류의 로그를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92.168.10.11:514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로 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TCP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를 이용해서 전송 </a:t>
            </a:r>
            <a:endParaRPr lang="en-US" altLang="ko-KR" sz="16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47426" y="3775900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systemctl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status 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</a:t>
            </a:r>
            <a:r>
              <a:rPr lang="en-US" altLang="ko-KR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ufw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allow 514/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tcp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#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ufw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reload</a:t>
            </a:r>
          </a:p>
          <a:p>
            <a:pPr>
              <a:lnSpc>
                <a:spcPct val="200000"/>
              </a:lnSpc>
            </a:pP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</a:t>
            </a:r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systemctl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restart 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200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876" y="2656769"/>
            <a:ext cx="4438448" cy="50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47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01" y="1064900"/>
            <a:ext cx="7962900" cy="17240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01" y="3657444"/>
            <a:ext cx="5248219" cy="250560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50701" y="415763"/>
            <a:ext cx="282000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#apt-get install –y </a:t>
            </a:r>
            <a:r>
              <a:rPr lang="en-US" altLang="ko-KR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endParaRPr lang="en-US" altLang="ko-KR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7443" y="3038518"/>
            <a:ext cx="26132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nano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/</a:t>
            </a:r>
            <a:r>
              <a:rPr lang="en-US" altLang="ko-KR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etc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rsyslog.conf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34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80" y="360383"/>
            <a:ext cx="7886700" cy="73002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CentOS</a:t>
            </a:r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ko-KR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client installation </a:t>
            </a:r>
            <a:endParaRPr lang="ko-KR" alt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903653" y="1567609"/>
            <a:ext cx="7980703" cy="332048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❶ #rpm –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qa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| 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grep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❷ #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gedit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etc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rsyslog.conf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❸ 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 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systemctl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restart 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❹ #firewall-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config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57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95284" y="542027"/>
            <a:ext cx="8398392" cy="30026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2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#apt-get install –y 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592312" y="3179328"/>
            <a:ext cx="8398392" cy="287222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nano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/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etc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/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rsyslog.conf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  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68" y="1227137"/>
            <a:ext cx="7065315" cy="165039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68" y="3960814"/>
            <a:ext cx="7643809" cy="1495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11423" y="5728182"/>
            <a:ext cx="343235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*.notice      @@192.168.10.10:514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26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648791" y="328829"/>
            <a:ext cx="8398392" cy="499952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❸ </a:t>
            </a:r>
            <a:r>
              <a:rPr lang="ko-KR" altLang="en-US" sz="22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서비스</a:t>
            </a: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2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활성화 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#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systemctl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restart 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#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systemctl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status 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rssylog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# 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systemctl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enable 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91" y="3108325"/>
            <a:ext cx="8006116" cy="251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0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394320" y="509451"/>
            <a:ext cx="8398392" cy="499952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sz="24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netstat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–</a:t>
            </a:r>
            <a:r>
              <a:rPr lang="en-US" altLang="ko-KR" sz="24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natlp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| </a:t>
            </a:r>
            <a:r>
              <a:rPr lang="en-US" altLang="ko-KR" sz="24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grep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4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rsyslog</a:t>
            </a: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sz="24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lsof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–</a:t>
            </a:r>
            <a:r>
              <a:rPr lang="en-US" altLang="ko-KR" sz="24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4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tcp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514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29" y="2048953"/>
            <a:ext cx="8791575" cy="13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3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43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64" y="3932554"/>
            <a:ext cx="8827634" cy="214312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17349" y="1051125"/>
            <a:ext cx="8650749" cy="3109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iptables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-A INPUT -m state --state NEW -m </a:t>
            </a:r>
            <a:r>
              <a:rPr lang="en-US" altLang="ko-K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-p </a:t>
            </a:r>
            <a:r>
              <a:rPr lang="en-US" altLang="ko-K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</a:t>
            </a:r>
            <a:r>
              <a:rPr lang="en-US" altLang="ko-K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dport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514 -j </a:t>
            </a:r>
            <a:r>
              <a:rPr lang="en-US" altLang="ko-KR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ACCEPT</a:t>
            </a:r>
          </a:p>
          <a:p>
            <a:pPr>
              <a:lnSpc>
                <a:spcPct val="150000"/>
              </a:lnSpc>
            </a:pPr>
            <a:r>
              <a:rPr lang="en-US" altLang="ko-K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iptables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-A INPUT -m state --state NEW -m </a:t>
            </a:r>
            <a:r>
              <a:rPr lang="en-US" altLang="ko-K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-p </a:t>
            </a:r>
            <a:r>
              <a:rPr lang="en-US" altLang="ko-K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</a:t>
            </a:r>
            <a:r>
              <a:rPr lang="en-US" altLang="ko-K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dport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514 -j </a:t>
            </a:r>
            <a:r>
              <a:rPr lang="en-US" altLang="ko-KR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ACCEPT</a:t>
            </a:r>
          </a:p>
          <a:p>
            <a:pPr>
              <a:lnSpc>
                <a:spcPct val="150000"/>
              </a:lnSpc>
            </a:pP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firewall-</a:t>
            </a:r>
            <a:r>
              <a:rPr lang="en-US" altLang="ko-K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--permanent --</a:t>
            </a:r>
            <a:r>
              <a:rPr lang="en-US" altLang="ko-KR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add-port=514/</a:t>
            </a:r>
            <a:r>
              <a:rPr lang="en-US" altLang="ko-KR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endParaRPr lang="en-US" altLang="ko-KR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firewall-</a:t>
            </a:r>
            <a:r>
              <a:rPr lang="en-US" altLang="ko-K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--permanent --</a:t>
            </a:r>
            <a:r>
              <a:rPr lang="en-US" altLang="ko-KR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add-port=514/</a:t>
            </a:r>
            <a:r>
              <a:rPr lang="en-US" altLang="ko-KR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endParaRPr lang="en-US" altLang="ko-KR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firewall-</a:t>
            </a:r>
            <a:r>
              <a:rPr lang="en-US" altLang="ko-K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–reload</a:t>
            </a:r>
          </a:p>
          <a:p>
            <a:pPr>
              <a:lnSpc>
                <a:spcPct val="150000"/>
              </a:lnSpc>
            </a:pP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firewall-</a:t>
            </a:r>
            <a:r>
              <a:rPr lang="en-US" altLang="ko-K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--list-ports</a:t>
            </a:r>
          </a:p>
          <a:p>
            <a:pPr>
              <a:lnSpc>
                <a:spcPct val="150000"/>
              </a:lnSpc>
            </a:pPr>
            <a:endParaRPr lang="ko-KR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443527" y="340117"/>
            <a:ext cx="8398392" cy="499952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❹ </a:t>
            </a:r>
            <a:r>
              <a:rPr lang="ko-KR" altLang="en-US" sz="22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방화벽 설정</a:t>
            </a: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3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44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619" y="2038872"/>
            <a:ext cx="5184134" cy="398939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" name="제목 1"/>
          <p:cNvSpPr txBox="1">
            <a:spLocks/>
          </p:cNvSpPr>
          <p:nvPr/>
        </p:nvSpPr>
        <p:spPr>
          <a:xfrm>
            <a:off x="530580" y="360383"/>
            <a:ext cx="7886700" cy="7300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[Win10] </a:t>
            </a:r>
            <a:r>
              <a:rPr lang="en-US" altLang="ko-KR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client installation </a:t>
            </a:r>
            <a:endParaRPr lang="ko-KR" alt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57300" y="1446697"/>
            <a:ext cx="53086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https://www.rsyslog.com/windows-agent/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083164" y="6171685"/>
            <a:ext cx="2548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Rsyslog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Agent</a:t>
            </a:r>
            <a:endParaRPr lang="en-US" altLang="ko-KR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291892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45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62" y="755713"/>
            <a:ext cx="8520057" cy="495312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5547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2315</TotalTime>
  <Words>2046</Words>
  <Application>Microsoft Office PowerPoint</Application>
  <PresentationFormat>화면 슬라이드 쇼(4:3)</PresentationFormat>
  <Paragraphs>578</Paragraphs>
  <Slides>45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5" baseType="lpstr">
      <vt:lpstr>Microsoft JhengHei</vt:lpstr>
      <vt:lpstr>맑은 고딕</vt:lpstr>
      <vt:lpstr>함초롬바탕</vt:lpstr>
      <vt:lpstr>Arial</vt:lpstr>
      <vt:lpstr>Calibri</vt:lpstr>
      <vt:lpstr>Calibri Light</vt:lpstr>
      <vt:lpstr>Cambria</vt:lpstr>
      <vt:lpstr>Times New Roman</vt:lpstr>
      <vt:lpstr>Wingdings</vt:lpstr>
      <vt:lpstr>Office 테마</vt:lpstr>
      <vt:lpstr>Rsyslog Installation</vt:lpstr>
      <vt:lpstr>PowerPoint 프레젠테이션</vt:lpstr>
      <vt:lpstr>2) 로그(Log)  데이터 중요성  </vt:lpstr>
      <vt:lpstr>3) 로그 분석 </vt:lpstr>
      <vt:lpstr>4) 분석할 로그 종류  </vt:lpstr>
      <vt:lpstr>5) 윈도우 로그 </vt:lpstr>
      <vt:lpstr>로그 확인 방법 2가지 </vt:lpstr>
      <vt:lpstr>PowerPoint 프레젠테이션</vt:lpstr>
      <vt:lpstr>PowerPoint 프레젠테이션</vt:lpstr>
      <vt:lpstr>PowerPoint 프레젠테이션</vt:lpstr>
      <vt:lpstr>PowerPoint 프레젠테이션</vt:lpstr>
      <vt:lpstr>시스템 로그 </vt:lpstr>
      <vt:lpstr>PowerPoint 프레젠테이션</vt:lpstr>
      <vt:lpstr>PowerPoint 프레젠테이션</vt:lpstr>
      <vt:lpstr>6) 리눅스 로그   </vt:lpstr>
      <vt:lpstr>PowerPoint 프레젠테이션</vt:lpstr>
      <vt:lpstr>PowerPoint 프레젠테이션</vt:lpstr>
      <vt:lpstr>PowerPoint 프레젠테이션</vt:lpstr>
      <vt:lpstr>로그 Package : syslog/rsyslog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1) [Splunk server] rsyslog server installation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2) [Ubuntu-Zeek] rsyslog client installation </vt:lpstr>
      <vt:lpstr>PowerPoint 프레젠테이션</vt:lpstr>
      <vt:lpstr>3) [CentOS] rsyslog client installation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로그 수집 환경 구성</dc:title>
  <dc:creator>Microsoft 계정</dc:creator>
  <cp:lastModifiedBy>Microsoft 계정</cp:lastModifiedBy>
  <cp:revision>299</cp:revision>
  <cp:lastPrinted>2022-08-07T09:53:47Z</cp:lastPrinted>
  <dcterms:created xsi:type="dcterms:W3CDTF">2022-07-30T01:23:41Z</dcterms:created>
  <dcterms:modified xsi:type="dcterms:W3CDTF">2022-08-09T05:00:59Z</dcterms:modified>
</cp:coreProperties>
</file>